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4" name="Shape 4"/>
          <p:cNvSpPr/>
          <p:nvPr/>
        </p:nvSpPr>
        <p:spPr>
          <a:xfrm>
            <a:off x="11167567" y="310896"/>
            <a:ext cx="47548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6E6E73"/>
                </a:solidFill>
                <a:latin typeface="JetBrains Mono"/>
                <a:cs typeface="JetBrains Mono"/>
              </a:rPr>
              <a:t>01/09</a:t>
            </a:r>
          </a:p>
        </p:txBody>
      </p:sp>
      <p:pic>
        <p:nvPicPr>
          <p:cNvPr id="5" name="Picture 5" descr="app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1467" y="475488"/>
            <a:ext cx="1508760" cy="1508760"/>
          </a:xfrm>
          <a:prstGeom prst="rect">
            <a:avLst/>
          </a:prstGeom>
        </p:spPr>
      </p:pic>
      <p:sp>
        <p:nvSpPr>
          <p:cNvPr id="6" name="Shape 6"/>
          <p:cNvSpPr txBox="1"/>
          <p:nvPr/>
        </p:nvSpPr>
        <p:spPr>
          <a:xfrm>
            <a:off x="548640" y="2176272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1D1D1F"/>
                </a:solidFill>
                <a:latin typeface="Inter"/>
                <a:cs typeface="Inter"/>
              </a:rPr>
              <a:t>Whisper</a:t>
            </a:r>
            <a:r>
              <a:rPr sz="5400" b="1" i="0">
                <a:solidFill>
                  <a:srgbClr val="0071E3"/>
                </a:solidFill>
                <a:latin typeface="Inter"/>
                <a:cs typeface="Inter"/>
              </a:rPr>
              <a:t>Fly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2834640" y="3182112"/>
            <a:ext cx="6522415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2000"/>
              </a:lnSpc>
            </a:pPr>
            <a:r>
              <a:rPr sz="1200" b="0" i="0">
                <a:solidFill>
                  <a:srgbClr val="6E6E73"/>
                </a:solidFill>
                <a:latin typeface="Inter"/>
                <a:cs typeface="Inter"/>
              </a:rPr>
              <a:t>Бесплатная диктовка нажатием клавиши для macOS. Голос — в текст: мгновенно, в любом приложении и без единого тенге за подписку.</a:t>
            </a:r>
          </a:p>
        </p:txBody>
      </p:sp>
      <p:sp>
        <p:nvSpPr>
          <p:cNvPr id="8" name="Shape 8"/>
          <p:cNvSpPr/>
          <p:nvPr/>
        </p:nvSpPr>
        <p:spPr>
          <a:xfrm>
            <a:off x="1249527" y="4096512"/>
            <a:ext cx="3121152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9" name="Shape 9"/>
          <p:cNvSpPr txBox="1"/>
          <p:nvPr/>
        </p:nvSpPr>
        <p:spPr>
          <a:xfrm>
            <a:off x="1414119" y="4224528"/>
            <a:ext cx="2791968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E6E73"/>
                </a:solidFill>
                <a:latin typeface="JetBrains Mono"/>
                <a:cs typeface="JetBrains Mono"/>
              </a:rPr>
              <a:t>ПРОЕКТ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1414119" y="4462272"/>
            <a:ext cx="279196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4000"/>
              </a:lnSpc>
            </a:pPr>
            <a:r>
              <a:rPr sz="950" b="1" i="0">
                <a:solidFill>
                  <a:srgbClr val="1D1D1F"/>
                </a:solidFill>
                <a:latin typeface="Inter"/>
                <a:cs typeface="Inter"/>
              </a:rPr>
              <a:t>WhisperFly — голосовой ввод для macOS</a:t>
            </a:r>
          </a:p>
        </p:txBody>
      </p:sp>
      <p:sp>
        <p:nvSpPr>
          <p:cNvPr id="11" name="Shape 11"/>
          <p:cNvSpPr/>
          <p:nvPr/>
        </p:nvSpPr>
        <p:spPr>
          <a:xfrm>
            <a:off x="4535271" y="4096512"/>
            <a:ext cx="3121152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12" name="Shape 12"/>
          <p:cNvSpPr txBox="1"/>
          <p:nvPr/>
        </p:nvSpPr>
        <p:spPr>
          <a:xfrm>
            <a:off x="4699863" y="4224528"/>
            <a:ext cx="2791968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E6E73"/>
                </a:solidFill>
                <a:latin typeface="JetBrains Mono"/>
                <a:cs typeface="JetBrains Mono"/>
              </a:rPr>
              <a:t>КОМАНДА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4699863" y="4462272"/>
            <a:ext cx="279196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4000"/>
              </a:lnSpc>
            </a:pPr>
            <a:r>
              <a:rPr sz="950" b="1" i="0">
                <a:solidFill>
                  <a:srgbClr val="1D1D1F"/>
                </a:solidFill>
                <a:latin typeface="Inter"/>
                <a:cs typeface="Inter"/>
              </a:rPr>
              <a:t>WhisperFly · независимый open-source проект</a:t>
            </a:r>
          </a:p>
        </p:txBody>
      </p:sp>
      <p:sp>
        <p:nvSpPr>
          <p:cNvPr id="14" name="Shape 14"/>
          <p:cNvSpPr/>
          <p:nvPr/>
        </p:nvSpPr>
        <p:spPr>
          <a:xfrm>
            <a:off x="7821015" y="4096512"/>
            <a:ext cx="3121152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15" name="Shape 15"/>
          <p:cNvSpPr txBox="1"/>
          <p:nvPr/>
        </p:nvSpPr>
        <p:spPr>
          <a:xfrm>
            <a:off x="7985607" y="4224528"/>
            <a:ext cx="2791968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E6E73"/>
                </a:solidFill>
                <a:latin typeface="JetBrains Mono"/>
                <a:cs typeface="JetBrains Mono"/>
              </a:rPr>
              <a:t>СПИКЕР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7985607" y="4462272"/>
            <a:ext cx="279196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4000"/>
              </a:lnSpc>
            </a:pPr>
            <a:r>
              <a:rPr sz="950" b="1" i="0">
                <a:solidFill>
                  <a:srgbClr val="1D1D1F"/>
                </a:solidFill>
                <a:latin typeface="Inter"/>
                <a:cs typeface="Inter"/>
              </a:rPr>
              <a:t>Даниил Бурыкин, основатель</a:t>
            </a:r>
          </a:p>
        </p:txBody>
      </p:sp>
      <p:sp>
        <p:nvSpPr>
          <p:cNvPr id="17" name="Shape 17"/>
          <p:cNvSpPr/>
          <p:nvPr/>
        </p:nvSpPr>
        <p:spPr>
          <a:xfrm>
            <a:off x="2147459" y="5285232"/>
            <a:ext cx="1656897" cy="27432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FFFFFF"/>
                </a:solidFill>
                <a:latin typeface="Inter"/>
                <a:cs typeface="Inter"/>
              </a:rPr>
              <a:t>PIZZA PITCH · SKO Hub</a:t>
            </a:r>
          </a:p>
        </p:txBody>
      </p:sp>
      <p:sp>
        <p:nvSpPr>
          <p:cNvPr id="18" name="Shape 18"/>
          <p:cNvSpPr/>
          <p:nvPr/>
        </p:nvSpPr>
        <p:spPr>
          <a:xfrm>
            <a:off x="3895796" y="5285232"/>
            <a:ext cx="2315267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1D1D1F"/>
                </a:solidFill>
                <a:latin typeface="Inter"/>
                <a:cs typeface="Inter"/>
              </a:rPr>
              <a:t>16 октября 2026 · Петропавловск</a:t>
            </a:r>
          </a:p>
        </p:txBody>
      </p:sp>
      <p:sp>
        <p:nvSpPr>
          <p:cNvPr id="19" name="Shape 19"/>
          <p:cNvSpPr/>
          <p:nvPr/>
        </p:nvSpPr>
        <p:spPr>
          <a:xfrm>
            <a:off x="6302503" y="5285232"/>
            <a:ext cx="1261875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1D1D1F"/>
                </a:solidFill>
                <a:latin typeface="Inter"/>
                <a:cs typeface="Inter"/>
              </a:rPr>
              <a:t>Готовый MVP 2.0</a:t>
            </a:r>
          </a:p>
        </p:txBody>
      </p:sp>
      <p:sp>
        <p:nvSpPr>
          <p:cNvPr id="20" name="Shape 20"/>
          <p:cNvSpPr/>
          <p:nvPr/>
        </p:nvSpPr>
        <p:spPr>
          <a:xfrm>
            <a:off x="7655818" y="5285232"/>
            <a:ext cx="86685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1D1D1F"/>
                </a:solidFill>
                <a:latin typeface="Inter"/>
                <a:cs typeface="Inter"/>
              </a:rPr>
              <a:t>macOS 14+</a:t>
            </a:r>
          </a:p>
        </p:txBody>
      </p:sp>
      <p:sp>
        <p:nvSpPr>
          <p:cNvPr id="21" name="Shape 21"/>
          <p:cNvSpPr/>
          <p:nvPr/>
        </p:nvSpPr>
        <p:spPr>
          <a:xfrm>
            <a:off x="8614111" y="5285232"/>
            <a:ext cx="86685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1D1D1F"/>
                </a:solidFill>
                <a:latin typeface="Inter"/>
                <a:cs typeface="Inter"/>
              </a:rPr>
              <a:t>11 языков</a:t>
            </a:r>
          </a:p>
        </p:txBody>
      </p:sp>
      <p:sp>
        <p:nvSpPr>
          <p:cNvPr id="22" name="Shape 22"/>
          <p:cNvSpPr/>
          <p:nvPr/>
        </p:nvSpPr>
        <p:spPr>
          <a:xfrm>
            <a:off x="9572404" y="5285232"/>
            <a:ext cx="471831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1D1D1F"/>
                </a:solidFill>
                <a:latin typeface="Inter"/>
                <a:cs typeface="Inter"/>
              </a:rPr>
              <a:t>0 ₸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4" name="Shape 4"/>
          <p:cNvSpPr/>
          <p:nvPr/>
        </p:nvSpPr>
        <p:spPr>
          <a:xfrm>
            <a:off x="11167567" y="310896"/>
            <a:ext cx="47548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6E6E73"/>
                </a:solidFill>
                <a:latin typeface="JetBrains Mono"/>
                <a:cs typeface="JetBrains Mono"/>
              </a:rPr>
              <a:t>02/09</a:t>
            </a:r>
          </a:p>
        </p:txBody>
      </p:sp>
      <p:sp>
        <p:nvSpPr>
          <p:cNvPr id="5" name="Shape 5"/>
          <p:cNvSpPr/>
          <p:nvPr/>
        </p:nvSpPr>
        <p:spPr>
          <a:xfrm>
            <a:off x="548640" y="329184"/>
            <a:ext cx="2317095" cy="274320"/>
          </a:xfrm>
          <a:prstGeom prst="roundRect">
            <a:avLst>
              <a:gd name="adj" fmla="val 50000"/>
            </a:avLst>
          </a:prstGeom>
          <a:solidFill>
            <a:srgbClr val="E8F2F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0071E3"/>
                </a:solidFill>
                <a:latin typeface="Inter"/>
                <a:cs typeface="Inter"/>
              </a:rPr>
              <a:t>ВВЕДЕНИЕ · ПРОДУКТ В РАБОТЕ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48640" y="676656"/>
            <a:ext cx="9814255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4000"/>
              </a:lnSpc>
            </a:pPr>
            <a:r>
              <a:rPr sz="2800" b="1" i="0">
                <a:solidFill>
                  <a:srgbClr val="1D1D1F"/>
                </a:solidFill>
                <a:latin typeface="Inter"/>
                <a:cs typeface="Inter"/>
              </a:rPr>
              <a:t>Что такое </a:t>
            </a:r>
            <a:r>
              <a:rPr sz="2800" b="1" i="0">
                <a:solidFill>
                  <a:srgbClr val="0071E3"/>
                </a:solidFill>
                <a:latin typeface="Inter"/>
                <a:cs typeface="Inter"/>
              </a:rPr>
              <a:t>WhisperFly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548640" y="1243584"/>
            <a:ext cx="9997135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6E6E73"/>
                </a:solidFill>
                <a:latin typeface="Inter"/>
                <a:cs typeface="Inter"/>
              </a:rPr>
              <a:t>WhisperFly — нативное приложение для macOS, которое превращает речь в текст в любом приложении по нажатию ⌘⇧Space. Записывает микрофон и системный звук, распознаёт речь через Groq Whisper и вставляет чистый текст прямо к курсору.</a:t>
            </a:r>
          </a:p>
        </p:txBody>
      </p:sp>
      <p:sp>
        <p:nvSpPr>
          <p:cNvPr id="8" name="Shape 8"/>
          <p:cNvSpPr/>
          <p:nvPr/>
        </p:nvSpPr>
        <p:spPr>
          <a:xfrm>
            <a:off x="548640" y="1938528"/>
            <a:ext cx="3474720" cy="4251960"/>
          </a:xfrm>
          <a:prstGeom prst="roundRect">
            <a:avLst>
              <a:gd name="adj" fmla="val 7000"/>
            </a:avLst>
          </a:prstGeom>
          <a:solidFill>
            <a:srgbClr val="1D1D1F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9" name="Shape 9"/>
          <p:cNvSpPr/>
          <p:nvPr/>
        </p:nvSpPr>
        <p:spPr>
          <a:xfrm>
            <a:off x="786384" y="2176272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282A30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0071E3"/>
                </a:solidFill>
                <a:latin typeface="Inter"/>
                <a:cs typeface="Inter"/>
              </a:rPr>
              <a:t>◎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786384" y="2706624"/>
            <a:ext cx="2999232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Inter"/>
                <a:cs typeface="Inter"/>
              </a:rPr>
              <a:t>Главная цель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786384" y="3108960"/>
            <a:ext cx="2999232" cy="1920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6000"/>
              </a:lnSpc>
            </a:pPr>
            <a:r>
              <a:rPr sz="1050" b="0" i="0">
                <a:solidFill>
                  <a:srgbClr val="FFFFFF"/>
                </a:solidFill>
                <a:latin typeface="Inter"/>
                <a:cs typeface="Inter"/>
              </a:rPr>
              <a:t>Убрать разрыв между скоростью мысли и скоростью набора текста — сделать голосовой ввод бесплатным, мгновенным и доступным каждому на Mac.</a:t>
            </a:r>
          </a:p>
        </p:txBody>
      </p:sp>
      <p:sp>
        <p:nvSpPr>
          <p:cNvPr id="12" name="Shape 12"/>
          <p:cNvSpPr/>
          <p:nvPr/>
        </p:nvSpPr>
        <p:spPr>
          <a:xfrm>
            <a:off x="786384" y="5577840"/>
            <a:ext cx="797355" cy="256032"/>
          </a:xfrm>
          <a:prstGeom prst="roundRect">
            <a:avLst>
              <a:gd name="adj" fmla="val 50000"/>
            </a:avLst>
          </a:prstGeom>
          <a:solidFill>
            <a:srgbClr val="282A30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750" b="1" i="0">
                <a:solidFill>
                  <a:srgbClr val="FFFFFF"/>
                </a:solidFill>
                <a:latin typeface="Inter"/>
                <a:cs typeface="Inter"/>
              </a:rPr>
              <a:t>macOS 14+</a:t>
            </a:r>
          </a:p>
        </p:txBody>
      </p:sp>
      <p:sp>
        <p:nvSpPr>
          <p:cNvPr id="13" name="Shape 13"/>
          <p:cNvSpPr/>
          <p:nvPr/>
        </p:nvSpPr>
        <p:spPr>
          <a:xfrm>
            <a:off x="1656891" y="5577840"/>
            <a:ext cx="983892" cy="256032"/>
          </a:xfrm>
          <a:prstGeom prst="roundRect">
            <a:avLst>
              <a:gd name="adj" fmla="val 50000"/>
            </a:avLst>
          </a:prstGeom>
          <a:solidFill>
            <a:srgbClr val="282A30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750" b="1" i="0">
                <a:solidFill>
                  <a:srgbClr val="FFFFFF"/>
                </a:solidFill>
                <a:latin typeface="Inter"/>
                <a:cs typeface="Inter"/>
              </a:rPr>
              <a:t>Groq Whisper</a:t>
            </a:r>
          </a:p>
        </p:txBody>
      </p:sp>
      <p:sp>
        <p:nvSpPr>
          <p:cNvPr id="14" name="Shape 14"/>
          <p:cNvSpPr/>
          <p:nvPr/>
        </p:nvSpPr>
        <p:spPr>
          <a:xfrm>
            <a:off x="2713935" y="5577840"/>
            <a:ext cx="424281" cy="256032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750" b="1" i="0">
                <a:solidFill>
                  <a:srgbClr val="FFFFFF"/>
                </a:solidFill>
                <a:latin typeface="Inter"/>
                <a:cs typeface="Inter"/>
              </a:rPr>
              <a:t>0 ₸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4187952" y="1938528"/>
            <a:ext cx="37947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6E6E73"/>
                </a:solidFill>
                <a:latin typeface="Inter"/>
                <a:cs typeface="Inter"/>
              </a:rPr>
              <a:t>КОНКРЕТНЫЕ ЗАДАЧИ</a:t>
            </a:r>
          </a:p>
        </p:txBody>
      </p:sp>
      <p:sp>
        <p:nvSpPr>
          <p:cNvPr id="16" name="Shape 16"/>
          <p:cNvSpPr/>
          <p:nvPr/>
        </p:nvSpPr>
        <p:spPr>
          <a:xfrm>
            <a:off x="4187952" y="2231136"/>
            <a:ext cx="3794760" cy="8961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17" name="Shape 17"/>
          <p:cNvSpPr/>
          <p:nvPr/>
        </p:nvSpPr>
        <p:spPr>
          <a:xfrm>
            <a:off x="4315968" y="2377440"/>
            <a:ext cx="256032" cy="256032"/>
          </a:xfrm>
          <a:prstGeom prst="ellipse">
            <a:avLst/>
          </a:prstGeom>
          <a:solidFill>
            <a:srgbClr val="E8F2F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850" b="1" i="0">
                <a:solidFill>
                  <a:srgbClr val="0071E3"/>
                </a:solidFill>
                <a:latin typeface="JetBrains Mono"/>
                <a:cs typeface="JetBrains Mono"/>
              </a:rPr>
              <a:t>1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4645152" y="2359152"/>
            <a:ext cx="3227832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30" b="1" i="0">
                <a:solidFill>
                  <a:srgbClr val="1D1D1F"/>
                </a:solidFill>
                <a:latin typeface="Inter"/>
                <a:cs typeface="Inter"/>
              </a:rPr>
              <a:t>Мгновенный ввод. </a:t>
            </a:r>
            <a:r>
              <a:rPr sz="830" b="0" i="0">
                <a:solidFill>
                  <a:srgbClr val="6E6E73"/>
                </a:solidFill>
                <a:latin typeface="Inter"/>
                <a:cs typeface="Inter"/>
              </a:rPr>
              <a:t>Один хоткей, авто-вставка текста в активное поле, отклик — доли секунды.</a:t>
            </a:r>
          </a:p>
        </p:txBody>
      </p:sp>
      <p:sp>
        <p:nvSpPr>
          <p:cNvPr id="19" name="Shape 19"/>
          <p:cNvSpPr/>
          <p:nvPr/>
        </p:nvSpPr>
        <p:spPr>
          <a:xfrm>
            <a:off x="4187952" y="3218688"/>
            <a:ext cx="3794760" cy="8961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20" name="Shape 20"/>
          <p:cNvSpPr/>
          <p:nvPr/>
        </p:nvSpPr>
        <p:spPr>
          <a:xfrm>
            <a:off x="4315968" y="3364992"/>
            <a:ext cx="256032" cy="256032"/>
          </a:xfrm>
          <a:prstGeom prst="ellipse">
            <a:avLst/>
          </a:prstGeom>
          <a:solidFill>
            <a:srgbClr val="E8F2F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850" b="1" i="0">
                <a:solidFill>
                  <a:srgbClr val="0071E3"/>
                </a:solidFill>
                <a:latin typeface="JetBrains Mono"/>
                <a:cs typeface="JetBrains Mono"/>
              </a:rPr>
              <a:t>2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4645152" y="3346704"/>
            <a:ext cx="3227832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30" b="1" i="0">
                <a:solidFill>
                  <a:srgbClr val="1D1D1F"/>
                </a:solidFill>
                <a:latin typeface="Inter"/>
                <a:cs typeface="Inter"/>
              </a:rPr>
              <a:t>Все сценарии звука. </a:t>
            </a:r>
            <a:r>
              <a:rPr sz="830" b="0" i="0">
                <a:solidFill>
                  <a:srgbClr val="6E6E73"/>
                </a:solidFill>
                <a:latin typeface="Inter"/>
                <a:cs typeface="Inter"/>
              </a:rPr>
              <a:t>Микрофон, системный звук macOS и готовые аудио/видеофайлы.</a:t>
            </a:r>
          </a:p>
        </p:txBody>
      </p:sp>
      <p:sp>
        <p:nvSpPr>
          <p:cNvPr id="22" name="Shape 22"/>
          <p:cNvSpPr/>
          <p:nvPr/>
        </p:nvSpPr>
        <p:spPr>
          <a:xfrm>
            <a:off x="4187952" y="4206240"/>
            <a:ext cx="3794760" cy="8961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23" name="Shape 23"/>
          <p:cNvSpPr/>
          <p:nvPr/>
        </p:nvSpPr>
        <p:spPr>
          <a:xfrm>
            <a:off x="4315968" y="4352544"/>
            <a:ext cx="256032" cy="256032"/>
          </a:xfrm>
          <a:prstGeom prst="ellipse">
            <a:avLst/>
          </a:prstGeom>
          <a:solidFill>
            <a:srgbClr val="E8F2F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850" b="1" i="0">
                <a:solidFill>
                  <a:srgbClr val="0071E3"/>
                </a:solidFill>
                <a:latin typeface="JetBrains Mono"/>
                <a:cs typeface="JetBrains Mono"/>
              </a:rPr>
              <a:t>3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4645152" y="4334256"/>
            <a:ext cx="3227832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30" b="1" i="0">
                <a:solidFill>
                  <a:srgbClr val="1D1D1F"/>
                </a:solidFill>
                <a:latin typeface="Inter"/>
                <a:cs typeface="Inter"/>
              </a:rPr>
              <a:t>Без языкового барьера. </a:t>
            </a:r>
            <a:r>
              <a:rPr sz="830" b="0" i="0">
                <a:solidFill>
                  <a:srgbClr val="6E6E73"/>
                </a:solidFill>
                <a:latin typeface="Inter"/>
                <a:cs typeface="Inter"/>
              </a:rPr>
              <a:t>Интерфейс на 11 языках (включая казахский), распознавание 100+ языков.</a:t>
            </a:r>
          </a:p>
        </p:txBody>
      </p:sp>
      <p:sp>
        <p:nvSpPr>
          <p:cNvPr id="25" name="Shape 25"/>
          <p:cNvSpPr/>
          <p:nvPr/>
        </p:nvSpPr>
        <p:spPr>
          <a:xfrm>
            <a:off x="4187952" y="5193792"/>
            <a:ext cx="3794760" cy="8961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26" name="Shape 26"/>
          <p:cNvSpPr/>
          <p:nvPr/>
        </p:nvSpPr>
        <p:spPr>
          <a:xfrm>
            <a:off x="4315968" y="5340096"/>
            <a:ext cx="256032" cy="256032"/>
          </a:xfrm>
          <a:prstGeom prst="ellipse">
            <a:avLst/>
          </a:prstGeom>
          <a:solidFill>
            <a:srgbClr val="E8F2F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850" b="1" i="0">
                <a:solidFill>
                  <a:srgbClr val="0071E3"/>
                </a:solidFill>
                <a:latin typeface="JetBrains Mono"/>
                <a:cs typeface="JetBrains Mono"/>
              </a:rPr>
              <a:t>4</a:t>
            </a:r>
          </a:p>
        </p:txBody>
      </p:sp>
      <p:sp>
        <p:nvSpPr>
          <p:cNvPr id="27" name="Shape 27"/>
          <p:cNvSpPr txBox="1"/>
          <p:nvPr/>
        </p:nvSpPr>
        <p:spPr>
          <a:xfrm>
            <a:off x="4645152" y="5321808"/>
            <a:ext cx="3227832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30" b="1" i="0">
                <a:solidFill>
                  <a:srgbClr val="1D1D1F"/>
                </a:solidFill>
                <a:latin typeface="Inter"/>
                <a:cs typeface="Inter"/>
              </a:rPr>
              <a:t>Выход на рынок. </a:t>
            </a:r>
            <a:r>
              <a:rPr sz="830" b="0" i="0">
                <a:solidFill>
                  <a:srgbClr val="6E6E73"/>
                </a:solidFill>
                <a:latin typeface="Inter"/>
                <a:cs typeface="Inter"/>
              </a:rPr>
              <a:t>Лендинг, первые 1 000 установок и грант GitHub на AI-модели.</a:t>
            </a:r>
          </a:p>
        </p:txBody>
      </p:sp>
      <p:sp>
        <p:nvSpPr>
          <p:cNvPr id="28" name="Shape 28"/>
          <p:cNvSpPr/>
          <p:nvPr/>
        </p:nvSpPr>
        <p:spPr>
          <a:xfrm>
            <a:off x="8147304" y="1938528"/>
            <a:ext cx="3495751" cy="4251960"/>
          </a:xfrm>
          <a:prstGeom prst="roundRect">
            <a:avLst>
              <a:gd name="adj" fmla="val 7000"/>
            </a:avLst>
          </a:prstGeom>
          <a:solidFill>
            <a:srgbClr val="1D1D1F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29" name="Shape 29"/>
          <p:cNvSpPr txBox="1"/>
          <p:nvPr/>
        </p:nvSpPr>
        <p:spPr>
          <a:xfrm>
            <a:off x="8311896" y="2066544"/>
            <a:ext cx="3166567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JetBrains Mono"/>
                <a:cs typeface="JetBrains Mono"/>
              </a:rPr>
              <a:t>ИНТЕРФЕЙС MACOS 2.0</a:t>
            </a:r>
          </a:p>
        </p:txBody>
      </p:sp>
      <p:pic>
        <p:nvPicPr>
          <p:cNvPr id="30" name="Picture 30" descr="screenshot-rea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1896" y="2322576"/>
            <a:ext cx="1517904" cy="1956816"/>
          </a:xfrm>
          <a:prstGeom prst="rect">
            <a:avLst/>
          </a:prstGeom>
        </p:spPr>
      </p:pic>
      <p:pic>
        <p:nvPicPr>
          <p:cNvPr id="31" name="Picture 31" descr="screenshot-recor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322576"/>
            <a:ext cx="1517904" cy="1956816"/>
          </a:xfrm>
          <a:prstGeom prst="rect">
            <a:avLst/>
          </a:prstGeom>
        </p:spPr>
      </p:pic>
      <p:pic>
        <p:nvPicPr>
          <p:cNvPr id="32" name="Picture 32" descr="screenshot-liste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896" y="4443984"/>
            <a:ext cx="3166567" cy="844417"/>
          </a:xfrm>
          <a:prstGeom prst="rect">
            <a:avLst/>
          </a:prstGeom>
        </p:spPr>
      </p:pic>
      <p:sp>
        <p:nvSpPr>
          <p:cNvPr id="33" name="Shape 33"/>
          <p:cNvSpPr txBox="1"/>
          <p:nvPr/>
        </p:nvSpPr>
        <p:spPr>
          <a:xfrm>
            <a:off x="8311896" y="5431536"/>
            <a:ext cx="3166567" cy="621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4000"/>
              </a:lnSpc>
            </a:pPr>
            <a:r>
              <a:rPr sz="800" b="0" i="0">
                <a:solidFill>
                  <a:srgbClr val="6E6E73"/>
                </a:solidFill>
                <a:latin typeface="Inter"/>
                <a:cs typeface="Inter"/>
              </a:rPr>
              <a:t>Строка меню Ready / Recording и плавающий индикатор Listening… прямо у курсора.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4" name="Shape 4"/>
          <p:cNvSpPr/>
          <p:nvPr/>
        </p:nvSpPr>
        <p:spPr>
          <a:xfrm>
            <a:off x="11167567" y="310896"/>
            <a:ext cx="47548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6E6E73"/>
                </a:solidFill>
                <a:latin typeface="JetBrains Mono"/>
                <a:cs typeface="JetBrains Mono"/>
              </a:rPr>
              <a:t>03/09</a:t>
            </a:r>
          </a:p>
        </p:txBody>
      </p:sp>
      <p:sp>
        <p:nvSpPr>
          <p:cNvPr id="5" name="Shape 5"/>
          <p:cNvSpPr/>
          <p:nvPr/>
        </p:nvSpPr>
        <p:spPr>
          <a:xfrm>
            <a:off x="548640" y="329184"/>
            <a:ext cx="1192380" cy="274320"/>
          </a:xfrm>
          <a:prstGeom prst="roundRect">
            <a:avLst>
              <a:gd name="adj" fmla="val 50000"/>
            </a:avLst>
          </a:prstGeom>
          <a:solidFill>
            <a:srgbClr val="E8F2F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0071E3"/>
                </a:solidFill>
                <a:latin typeface="Inter"/>
                <a:cs typeface="Inter"/>
              </a:rPr>
              <a:t>УНИКАЛЬНОСТЬ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48640" y="676656"/>
            <a:ext cx="9814255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4000"/>
              </a:lnSpc>
            </a:pPr>
            <a:r>
              <a:rPr sz="2800" b="1" i="0">
                <a:solidFill>
                  <a:srgbClr val="1D1D1F"/>
                </a:solidFill>
                <a:latin typeface="Inter"/>
                <a:cs typeface="Inter"/>
              </a:rPr>
              <a:t>Бесплатно, нативно и </a:t>
            </a:r>
            <a:r>
              <a:rPr sz="2800" b="1" i="0">
                <a:solidFill>
                  <a:srgbClr val="0071E3"/>
                </a:solidFill>
                <a:latin typeface="Inter"/>
                <a:cs typeface="Inter"/>
              </a:rPr>
              <a:t>открыто</a:t>
            </a:r>
          </a:p>
        </p:txBody>
      </p:sp>
      <p:sp>
        <p:nvSpPr>
          <p:cNvPr id="7" name="Shape 7"/>
          <p:cNvSpPr/>
          <p:nvPr/>
        </p:nvSpPr>
        <p:spPr>
          <a:xfrm>
            <a:off x="548640" y="1426464"/>
            <a:ext cx="1564995" cy="384048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txBody>
          <a:bodyPr wrap="none" lIns="109728" rIns="0" tIns="0" bIns="0" anchor="ctr"/>
          <a:lstStyle/>
          <a:p>
            <a:pPr algn="l">
              <a:lnSpc>
                <a:spcPct val="110000"/>
              </a:lnSpc>
            </a:pPr>
            <a:r>
              <a:rPr sz="750" b="1" i="0">
                <a:solidFill>
                  <a:srgbClr val="FFFFFF"/>
                </a:solidFill>
                <a:latin typeface="Inter"/>
                <a:cs typeface="Inter"/>
              </a:rPr>
              <a:t>ПРОДУКТ</a:t>
            </a:r>
          </a:p>
        </p:txBody>
      </p:sp>
      <p:sp>
        <p:nvSpPr>
          <p:cNvPr id="8" name="Shape 8"/>
          <p:cNvSpPr/>
          <p:nvPr/>
        </p:nvSpPr>
        <p:spPr>
          <a:xfrm>
            <a:off x="2113635" y="1426464"/>
            <a:ext cx="1192377" cy="384048"/>
          </a:xfrm>
          <a:prstGeom prst="rect">
            <a:avLst/>
          </a:prstGeom>
          <a:solidFill>
            <a:srgbClr val="ECECF1"/>
          </a:solidFill>
          <a:ln>
            <a:noFill/>
          </a:ln>
        </p:spPr>
        <p:txBody>
          <a:bodyPr wrap="none" lIns="109728" rIns="0" tIns="0" bIns="0" anchor="ctr"/>
          <a:lstStyle/>
          <a:p>
            <a:pPr algn="l">
              <a:lnSpc>
                <a:spcPct val="110000"/>
              </a:lnSpc>
            </a:pPr>
            <a:r>
              <a:rPr sz="750" b="1" i="0">
                <a:solidFill>
                  <a:srgbClr val="6E6E73"/>
                </a:solidFill>
                <a:latin typeface="Inter"/>
                <a:cs typeface="Inter"/>
              </a:rPr>
              <a:t>ЦЕНА</a:t>
            </a:r>
          </a:p>
        </p:txBody>
      </p:sp>
      <p:sp>
        <p:nvSpPr>
          <p:cNvPr id="9" name="Shape 9"/>
          <p:cNvSpPr/>
          <p:nvPr/>
        </p:nvSpPr>
        <p:spPr>
          <a:xfrm>
            <a:off x="3306012" y="1426464"/>
            <a:ext cx="1266901" cy="384048"/>
          </a:xfrm>
          <a:prstGeom prst="rect">
            <a:avLst/>
          </a:prstGeom>
          <a:solidFill>
            <a:srgbClr val="ECECF1"/>
          </a:solidFill>
          <a:ln>
            <a:noFill/>
          </a:ln>
        </p:spPr>
        <p:txBody>
          <a:bodyPr wrap="none" lIns="109728" rIns="0" tIns="0" bIns="0" anchor="ctr"/>
          <a:lstStyle/>
          <a:p>
            <a:pPr algn="l">
              <a:lnSpc>
                <a:spcPct val="110000"/>
              </a:lnSpc>
            </a:pPr>
            <a:r>
              <a:rPr sz="750" b="1" i="0">
                <a:solidFill>
                  <a:srgbClr val="6E6E73"/>
                </a:solidFill>
                <a:latin typeface="Inter"/>
                <a:cs typeface="Inter"/>
              </a:rPr>
              <a:t>СИСТЕМНЫЙ ЗВУК</a:t>
            </a:r>
          </a:p>
        </p:txBody>
      </p:sp>
      <p:sp>
        <p:nvSpPr>
          <p:cNvPr id="10" name="Shape 10"/>
          <p:cNvSpPr/>
          <p:nvPr/>
        </p:nvSpPr>
        <p:spPr>
          <a:xfrm>
            <a:off x="4572913" y="1426464"/>
            <a:ext cx="894283" cy="384048"/>
          </a:xfrm>
          <a:prstGeom prst="rect">
            <a:avLst/>
          </a:prstGeom>
          <a:solidFill>
            <a:srgbClr val="ECECF1"/>
          </a:solidFill>
          <a:ln>
            <a:noFill/>
          </a:ln>
        </p:spPr>
        <p:txBody>
          <a:bodyPr wrap="none" lIns="109728" rIns="0" tIns="0" bIns="0" anchor="ctr"/>
          <a:lstStyle/>
          <a:p>
            <a:pPr algn="l">
              <a:lnSpc>
                <a:spcPct val="110000"/>
              </a:lnSpc>
            </a:pPr>
            <a:r>
              <a:rPr sz="750" b="1" i="0">
                <a:solidFill>
                  <a:srgbClr val="6E6E73"/>
                </a:solidFill>
                <a:latin typeface="Inter"/>
                <a:cs typeface="Inter"/>
              </a:rPr>
              <a:t>ФАЙЛЫ</a:t>
            </a:r>
          </a:p>
        </p:txBody>
      </p:sp>
      <p:sp>
        <p:nvSpPr>
          <p:cNvPr id="11" name="Shape 11"/>
          <p:cNvSpPr/>
          <p:nvPr/>
        </p:nvSpPr>
        <p:spPr>
          <a:xfrm>
            <a:off x="5467196" y="1426464"/>
            <a:ext cx="1192377" cy="384048"/>
          </a:xfrm>
          <a:prstGeom prst="rect">
            <a:avLst/>
          </a:prstGeom>
          <a:solidFill>
            <a:srgbClr val="ECECF1"/>
          </a:solidFill>
          <a:ln>
            <a:noFill/>
          </a:ln>
        </p:spPr>
        <p:txBody>
          <a:bodyPr wrap="none" lIns="109728" rIns="0" tIns="0" bIns="0" anchor="ctr"/>
          <a:lstStyle/>
          <a:p>
            <a:pPr algn="l">
              <a:lnSpc>
                <a:spcPct val="110000"/>
              </a:lnSpc>
            </a:pPr>
            <a:r>
              <a:rPr sz="750" b="1" i="0">
                <a:solidFill>
                  <a:srgbClr val="6E6E73"/>
                </a:solidFill>
                <a:latin typeface="Inter"/>
                <a:cs typeface="Inter"/>
              </a:rPr>
              <a:t>ОТКРЫТЫЙ КОД</a:t>
            </a:r>
          </a:p>
        </p:txBody>
      </p:sp>
      <p:sp>
        <p:nvSpPr>
          <p:cNvPr id="12" name="Shape 12"/>
          <p:cNvSpPr/>
          <p:nvPr/>
        </p:nvSpPr>
        <p:spPr>
          <a:xfrm>
            <a:off x="6659573" y="1426464"/>
            <a:ext cx="1341427" cy="384048"/>
          </a:xfrm>
          <a:prstGeom prst="rect">
            <a:avLst/>
          </a:prstGeom>
          <a:solidFill>
            <a:srgbClr val="ECECF1"/>
          </a:solidFill>
          <a:ln>
            <a:noFill/>
          </a:ln>
        </p:spPr>
        <p:txBody>
          <a:bodyPr wrap="none" lIns="109728" rIns="0" tIns="0" bIns="0" anchor="ctr"/>
          <a:lstStyle/>
          <a:p>
            <a:pPr algn="l">
              <a:lnSpc>
                <a:spcPct val="110000"/>
              </a:lnSpc>
            </a:pPr>
            <a:r>
              <a:rPr sz="750" b="1" i="0">
                <a:solidFill>
                  <a:srgbClr val="6E6E73"/>
                </a:solidFill>
                <a:latin typeface="Inter"/>
                <a:cs typeface="Inter"/>
              </a:rPr>
              <a:t>КАЗАХСКИЙ UI</a:t>
            </a:r>
          </a:p>
        </p:txBody>
      </p:sp>
      <p:sp>
        <p:nvSpPr>
          <p:cNvPr id="13" name="Shape 13"/>
          <p:cNvSpPr/>
          <p:nvPr/>
        </p:nvSpPr>
        <p:spPr>
          <a:xfrm>
            <a:off x="548640" y="1810512"/>
            <a:ext cx="1564995" cy="475488"/>
          </a:xfrm>
          <a:prstGeom prst="rect">
            <a:avLst/>
          </a:prstGeom>
          <a:solidFill>
            <a:srgbClr val="E8F2FF"/>
          </a:solidFill>
          <a:ln>
            <a:noFill/>
          </a:ln>
        </p:spPr>
        <p:txBody>
          <a:bodyPr wrap="none" lIns="109728" rIns="0" tIns="0" bIns="0" anchor="ctr"/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1D1D1F"/>
                </a:solidFill>
                <a:latin typeface="Inter"/>
                <a:cs typeface="Inter"/>
              </a:rPr>
              <a:t>WhisperFly</a:t>
            </a:r>
          </a:p>
        </p:txBody>
      </p:sp>
      <p:sp>
        <p:nvSpPr>
          <p:cNvPr id="14" name="Shape 14"/>
          <p:cNvSpPr/>
          <p:nvPr/>
        </p:nvSpPr>
        <p:spPr>
          <a:xfrm>
            <a:off x="2113635" y="1810512"/>
            <a:ext cx="1192377" cy="475488"/>
          </a:xfrm>
          <a:prstGeom prst="rect">
            <a:avLst/>
          </a:prstGeom>
          <a:solidFill>
            <a:srgbClr val="E8F2FF"/>
          </a:solidFill>
          <a:ln>
            <a:noFill/>
          </a:ln>
        </p:spPr>
        <p:txBody>
          <a:bodyPr wrap="none" lIns="109728" rIns="0" tIns="0" bIns="0" anchor="ctr"/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1D1D1F"/>
                </a:solidFill>
                <a:latin typeface="Inter"/>
                <a:cs typeface="Inter"/>
              </a:rPr>
              <a:t>0 ₸</a:t>
            </a:r>
          </a:p>
        </p:txBody>
      </p:sp>
      <p:sp>
        <p:nvSpPr>
          <p:cNvPr id="15" name="Shape 15"/>
          <p:cNvSpPr/>
          <p:nvPr/>
        </p:nvSpPr>
        <p:spPr>
          <a:xfrm>
            <a:off x="3306012" y="1810512"/>
            <a:ext cx="1266901" cy="475488"/>
          </a:xfrm>
          <a:prstGeom prst="rect">
            <a:avLst/>
          </a:prstGeom>
          <a:solidFill>
            <a:srgbClr val="E8F2FF"/>
          </a:solidFill>
          <a:ln>
            <a:noFill/>
          </a:ln>
        </p:spPr>
        <p:txBody>
          <a:bodyPr wrap="none" lIns="109728" rIns="0" tIns="0" bIns="0" anchor="ctr"/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071E3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16" name="Shape 16"/>
          <p:cNvSpPr/>
          <p:nvPr/>
        </p:nvSpPr>
        <p:spPr>
          <a:xfrm>
            <a:off x="4572913" y="1810512"/>
            <a:ext cx="894283" cy="475488"/>
          </a:xfrm>
          <a:prstGeom prst="rect">
            <a:avLst/>
          </a:prstGeom>
          <a:solidFill>
            <a:srgbClr val="E8F2FF"/>
          </a:solidFill>
          <a:ln>
            <a:noFill/>
          </a:ln>
        </p:spPr>
        <p:txBody>
          <a:bodyPr wrap="none" lIns="109728" rIns="0" tIns="0" bIns="0" anchor="ctr"/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071E3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17" name="Shape 17"/>
          <p:cNvSpPr/>
          <p:nvPr/>
        </p:nvSpPr>
        <p:spPr>
          <a:xfrm>
            <a:off x="5467196" y="1810512"/>
            <a:ext cx="1192377" cy="475488"/>
          </a:xfrm>
          <a:prstGeom prst="rect">
            <a:avLst/>
          </a:prstGeom>
          <a:solidFill>
            <a:srgbClr val="E8F2FF"/>
          </a:solidFill>
          <a:ln>
            <a:noFill/>
          </a:ln>
        </p:spPr>
        <p:txBody>
          <a:bodyPr wrap="none" lIns="109728" rIns="0" tIns="0" bIns="0" anchor="ctr"/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071E3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18" name="Shape 18"/>
          <p:cNvSpPr/>
          <p:nvPr/>
        </p:nvSpPr>
        <p:spPr>
          <a:xfrm>
            <a:off x="6659573" y="1810512"/>
            <a:ext cx="1341427" cy="475488"/>
          </a:xfrm>
          <a:prstGeom prst="rect">
            <a:avLst/>
          </a:prstGeom>
          <a:solidFill>
            <a:srgbClr val="E8F2FF"/>
          </a:solidFill>
          <a:ln>
            <a:noFill/>
          </a:ln>
        </p:spPr>
        <p:txBody>
          <a:bodyPr wrap="none" lIns="109728" rIns="0" tIns="0" bIns="0" anchor="ctr"/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071E3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19" name="Shape 19"/>
          <p:cNvSpPr/>
          <p:nvPr/>
        </p:nvSpPr>
        <p:spPr>
          <a:xfrm>
            <a:off x="548640" y="2286000"/>
            <a:ext cx="1564995" cy="475488"/>
          </a:xfrm>
          <a:prstGeom prst="rect">
            <a:avLst/>
          </a:prstGeom>
          <a:solidFill>
            <a:srgbClr val="ECECF1"/>
          </a:solidFill>
          <a:ln>
            <a:noFill/>
          </a:ln>
        </p:spPr>
        <p:txBody>
          <a:bodyPr wrap="none" lIns="109728" rIns="0" tIns="0" bIns="0" anchor="ctr"/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D1D1F"/>
                </a:solidFill>
                <a:latin typeface="Inter"/>
                <a:cs typeface="Inter"/>
              </a:rPr>
              <a:t>Superwhisper</a:t>
            </a:r>
          </a:p>
        </p:txBody>
      </p:sp>
      <p:sp>
        <p:nvSpPr>
          <p:cNvPr id="20" name="Shape 20"/>
          <p:cNvSpPr/>
          <p:nvPr/>
        </p:nvSpPr>
        <p:spPr>
          <a:xfrm>
            <a:off x="2113635" y="2286000"/>
            <a:ext cx="1192377" cy="475488"/>
          </a:xfrm>
          <a:prstGeom prst="rect">
            <a:avLst/>
          </a:prstGeom>
          <a:solidFill>
            <a:srgbClr val="ECECF1"/>
          </a:solidFill>
          <a:ln>
            <a:noFill/>
          </a:ln>
        </p:spPr>
        <p:txBody>
          <a:bodyPr wrap="none" lIns="109728" rIns="0" tIns="0" bIns="0" anchor="ctr"/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D1D1F"/>
                </a:solidFill>
                <a:latin typeface="Inter"/>
                <a:cs typeface="Inter"/>
              </a:rPr>
              <a:t>от $8,99/мес</a:t>
            </a:r>
          </a:p>
        </p:txBody>
      </p:sp>
      <p:sp>
        <p:nvSpPr>
          <p:cNvPr id="21" name="Shape 21"/>
          <p:cNvSpPr/>
          <p:nvPr/>
        </p:nvSpPr>
        <p:spPr>
          <a:xfrm>
            <a:off x="3306012" y="2286000"/>
            <a:ext cx="1266901" cy="475488"/>
          </a:xfrm>
          <a:prstGeom prst="rect">
            <a:avLst/>
          </a:prstGeom>
          <a:solidFill>
            <a:srgbClr val="ECECF1"/>
          </a:solidFill>
          <a:ln>
            <a:noFill/>
          </a:ln>
        </p:spPr>
        <p:txBody>
          <a:bodyPr wrap="none" lIns="109728" rIns="0" tIns="0" bIns="0" anchor="ctr"/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6E6E73"/>
                </a:solidFill>
                <a:latin typeface="Inter"/>
                <a:cs typeface="Inter"/>
              </a:rPr>
              <a:t>✗</a:t>
            </a:r>
          </a:p>
        </p:txBody>
      </p:sp>
      <p:sp>
        <p:nvSpPr>
          <p:cNvPr id="22" name="Shape 22"/>
          <p:cNvSpPr/>
          <p:nvPr/>
        </p:nvSpPr>
        <p:spPr>
          <a:xfrm>
            <a:off x="4572913" y="2286000"/>
            <a:ext cx="894283" cy="475488"/>
          </a:xfrm>
          <a:prstGeom prst="rect">
            <a:avLst/>
          </a:prstGeom>
          <a:solidFill>
            <a:srgbClr val="ECECF1"/>
          </a:solidFill>
          <a:ln>
            <a:noFill/>
          </a:ln>
        </p:spPr>
        <p:txBody>
          <a:bodyPr wrap="none" lIns="109728" rIns="0" tIns="0" bIns="0" anchor="ctr"/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071E3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23" name="Shape 23"/>
          <p:cNvSpPr/>
          <p:nvPr/>
        </p:nvSpPr>
        <p:spPr>
          <a:xfrm>
            <a:off x="5467196" y="2286000"/>
            <a:ext cx="1192377" cy="475488"/>
          </a:xfrm>
          <a:prstGeom prst="rect">
            <a:avLst/>
          </a:prstGeom>
          <a:solidFill>
            <a:srgbClr val="ECECF1"/>
          </a:solidFill>
          <a:ln>
            <a:noFill/>
          </a:ln>
        </p:spPr>
        <p:txBody>
          <a:bodyPr wrap="none" lIns="109728" rIns="0" tIns="0" bIns="0" anchor="ctr"/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6E6E73"/>
                </a:solidFill>
                <a:latin typeface="Inter"/>
                <a:cs typeface="Inter"/>
              </a:rPr>
              <a:t>✗</a:t>
            </a:r>
          </a:p>
        </p:txBody>
      </p:sp>
      <p:sp>
        <p:nvSpPr>
          <p:cNvPr id="24" name="Shape 24"/>
          <p:cNvSpPr/>
          <p:nvPr/>
        </p:nvSpPr>
        <p:spPr>
          <a:xfrm>
            <a:off x="6659573" y="2286000"/>
            <a:ext cx="1341427" cy="475488"/>
          </a:xfrm>
          <a:prstGeom prst="rect">
            <a:avLst/>
          </a:prstGeom>
          <a:solidFill>
            <a:srgbClr val="ECECF1"/>
          </a:solidFill>
          <a:ln>
            <a:noFill/>
          </a:ln>
        </p:spPr>
        <p:txBody>
          <a:bodyPr wrap="none" lIns="109728" rIns="0" tIns="0" bIns="0" anchor="ctr"/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6E6E73"/>
                </a:solidFill>
                <a:latin typeface="Inter"/>
                <a:cs typeface="Inter"/>
              </a:rPr>
              <a:t>✗</a:t>
            </a:r>
          </a:p>
        </p:txBody>
      </p:sp>
      <p:sp>
        <p:nvSpPr>
          <p:cNvPr id="25" name="Shape 25"/>
          <p:cNvSpPr/>
          <p:nvPr/>
        </p:nvSpPr>
        <p:spPr>
          <a:xfrm>
            <a:off x="548640" y="2761488"/>
            <a:ext cx="1564995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09728" rIns="0" tIns="0" bIns="0" anchor="ctr"/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D1D1F"/>
                </a:solidFill>
                <a:latin typeface="Inter"/>
                <a:cs typeface="Inter"/>
              </a:rPr>
              <a:t>MacWhisper</a:t>
            </a:r>
          </a:p>
        </p:txBody>
      </p:sp>
      <p:sp>
        <p:nvSpPr>
          <p:cNvPr id="26" name="Shape 26"/>
          <p:cNvSpPr/>
          <p:nvPr/>
        </p:nvSpPr>
        <p:spPr>
          <a:xfrm>
            <a:off x="2113635" y="2761488"/>
            <a:ext cx="1192377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09728" rIns="0" tIns="0" bIns="0" anchor="ctr"/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D1D1F"/>
                </a:solidFill>
                <a:latin typeface="Inter"/>
                <a:cs typeface="Inter"/>
              </a:rPr>
              <a:t>от €59</a:t>
            </a:r>
          </a:p>
        </p:txBody>
      </p:sp>
      <p:sp>
        <p:nvSpPr>
          <p:cNvPr id="27" name="Shape 27"/>
          <p:cNvSpPr/>
          <p:nvPr/>
        </p:nvSpPr>
        <p:spPr>
          <a:xfrm>
            <a:off x="3306012" y="2761488"/>
            <a:ext cx="1266901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09728" rIns="0" tIns="0" bIns="0" anchor="ctr"/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6E6E73"/>
                </a:solidFill>
                <a:latin typeface="Inter"/>
                <a:cs typeface="Inter"/>
              </a:rPr>
              <a:t>✗</a:t>
            </a:r>
          </a:p>
        </p:txBody>
      </p:sp>
      <p:sp>
        <p:nvSpPr>
          <p:cNvPr id="28" name="Shape 28"/>
          <p:cNvSpPr/>
          <p:nvPr/>
        </p:nvSpPr>
        <p:spPr>
          <a:xfrm>
            <a:off x="4572913" y="2761488"/>
            <a:ext cx="894283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09728" rIns="0" tIns="0" bIns="0" anchor="ctr"/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071E3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29" name="Shape 29"/>
          <p:cNvSpPr/>
          <p:nvPr/>
        </p:nvSpPr>
        <p:spPr>
          <a:xfrm>
            <a:off x="5467196" y="2761488"/>
            <a:ext cx="1192377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09728" rIns="0" tIns="0" bIns="0" anchor="ctr"/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6E6E73"/>
                </a:solidFill>
                <a:latin typeface="Inter"/>
                <a:cs typeface="Inter"/>
              </a:rPr>
              <a:t>✗</a:t>
            </a:r>
          </a:p>
        </p:txBody>
      </p:sp>
      <p:sp>
        <p:nvSpPr>
          <p:cNvPr id="30" name="Shape 30"/>
          <p:cNvSpPr/>
          <p:nvPr/>
        </p:nvSpPr>
        <p:spPr>
          <a:xfrm>
            <a:off x="6659573" y="2761488"/>
            <a:ext cx="1341427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09728" rIns="0" tIns="0" bIns="0" anchor="ctr"/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6E6E73"/>
                </a:solidFill>
                <a:latin typeface="Inter"/>
                <a:cs typeface="Inter"/>
              </a:rPr>
              <a:t>✗</a:t>
            </a:r>
          </a:p>
        </p:txBody>
      </p:sp>
      <p:sp>
        <p:nvSpPr>
          <p:cNvPr id="31" name="Shape 31"/>
          <p:cNvSpPr/>
          <p:nvPr/>
        </p:nvSpPr>
        <p:spPr>
          <a:xfrm>
            <a:off x="548640" y="3236976"/>
            <a:ext cx="1564995" cy="475488"/>
          </a:xfrm>
          <a:prstGeom prst="rect">
            <a:avLst/>
          </a:prstGeom>
          <a:solidFill>
            <a:srgbClr val="ECECF1"/>
          </a:solidFill>
          <a:ln>
            <a:noFill/>
          </a:ln>
        </p:spPr>
        <p:txBody>
          <a:bodyPr wrap="none" lIns="109728" rIns="0" tIns="0" bIns="0" anchor="ctr"/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D1D1F"/>
                </a:solidFill>
                <a:latin typeface="Inter"/>
                <a:cs typeface="Inter"/>
              </a:rPr>
              <a:t>Wispr Flow</a:t>
            </a:r>
          </a:p>
        </p:txBody>
      </p:sp>
      <p:sp>
        <p:nvSpPr>
          <p:cNvPr id="32" name="Shape 32"/>
          <p:cNvSpPr/>
          <p:nvPr/>
        </p:nvSpPr>
        <p:spPr>
          <a:xfrm>
            <a:off x="2113635" y="3236976"/>
            <a:ext cx="1192377" cy="475488"/>
          </a:xfrm>
          <a:prstGeom prst="rect">
            <a:avLst/>
          </a:prstGeom>
          <a:solidFill>
            <a:srgbClr val="ECECF1"/>
          </a:solidFill>
          <a:ln>
            <a:noFill/>
          </a:ln>
        </p:spPr>
        <p:txBody>
          <a:bodyPr wrap="none" lIns="109728" rIns="0" tIns="0" bIns="0" anchor="ctr"/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D1D1F"/>
                </a:solidFill>
                <a:latin typeface="Inter"/>
                <a:cs typeface="Inter"/>
              </a:rPr>
              <a:t>от $12/мес</a:t>
            </a:r>
          </a:p>
        </p:txBody>
      </p:sp>
      <p:sp>
        <p:nvSpPr>
          <p:cNvPr id="33" name="Shape 33"/>
          <p:cNvSpPr/>
          <p:nvPr/>
        </p:nvSpPr>
        <p:spPr>
          <a:xfrm>
            <a:off x="3306012" y="3236976"/>
            <a:ext cx="1266901" cy="475488"/>
          </a:xfrm>
          <a:prstGeom prst="rect">
            <a:avLst/>
          </a:prstGeom>
          <a:solidFill>
            <a:srgbClr val="ECECF1"/>
          </a:solidFill>
          <a:ln>
            <a:noFill/>
          </a:ln>
        </p:spPr>
        <p:txBody>
          <a:bodyPr wrap="none" lIns="109728" rIns="0" tIns="0" bIns="0" anchor="ctr"/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6E6E73"/>
                </a:solidFill>
                <a:latin typeface="Inter"/>
                <a:cs typeface="Inter"/>
              </a:rPr>
              <a:t>✗</a:t>
            </a:r>
          </a:p>
        </p:txBody>
      </p:sp>
      <p:sp>
        <p:nvSpPr>
          <p:cNvPr id="34" name="Shape 34"/>
          <p:cNvSpPr/>
          <p:nvPr/>
        </p:nvSpPr>
        <p:spPr>
          <a:xfrm>
            <a:off x="4572913" y="3236976"/>
            <a:ext cx="894283" cy="475488"/>
          </a:xfrm>
          <a:prstGeom prst="rect">
            <a:avLst/>
          </a:prstGeom>
          <a:solidFill>
            <a:srgbClr val="ECECF1"/>
          </a:solidFill>
          <a:ln>
            <a:noFill/>
          </a:ln>
        </p:spPr>
        <p:txBody>
          <a:bodyPr wrap="none" lIns="109728" rIns="0" tIns="0" bIns="0" anchor="ctr"/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6E6E73"/>
                </a:solidFill>
                <a:latin typeface="Inter"/>
                <a:cs typeface="Inter"/>
              </a:rPr>
              <a:t>✗</a:t>
            </a:r>
          </a:p>
        </p:txBody>
      </p:sp>
      <p:sp>
        <p:nvSpPr>
          <p:cNvPr id="35" name="Shape 35"/>
          <p:cNvSpPr/>
          <p:nvPr/>
        </p:nvSpPr>
        <p:spPr>
          <a:xfrm>
            <a:off x="5467196" y="3236976"/>
            <a:ext cx="1192377" cy="475488"/>
          </a:xfrm>
          <a:prstGeom prst="rect">
            <a:avLst/>
          </a:prstGeom>
          <a:solidFill>
            <a:srgbClr val="ECECF1"/>
          </a:solidFill>
          <a:ln>
            <a:noFill/>
          </a:ln>
        </p:spPr>
        <p:txBody>
          <a:bodyPr wrap="none" lIns="109728" rIns="0" tIns="0" bIns="0" anchor="ctr"/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6E6E73"/>
                </a:solidFill>
                <a:latin typeface="Inter"/>
                <a:cs typeface="Inter"/>
              </a:rPr>
              <a:t>✗</a:t>
            </a:r>
          </a:p>
        </p:txBody>
      </p:sp>
      <p:sp>
        <p:nvSpPr>
          <p:cNvPr id="36" name="Shape 36"/>
          <p:cNvSpPr/>
          <p:nvPr/>
        </p:nvSpPr>
        <p:spPr>
          <a:xfrm>
            <a:off x="6659573" y="3236976"/>
            <a:ext cx="1341427" cy="475488"/>
          </a:xfrm>
          <a:prstGeom prst="rect">
            <a:avLst/>
          </a:prstGeom>
          <a:solidFill>
            <a:srgbClr val="ECECF1"/>
          </a:solidFill>
          <a:ln>
            <a:noFill/>
          </a:ln>
        </p:spPr>
        <p:txBody>
          <a:bodyPr wrap="none" lIns="109728" rIns="0" tIns="0" bIns="0" anchor="ctr"/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6E6E73"/>
                </a:solidFill>
                <a:latin typeface="Inter"/>
                <a:cs typeface="Inter"/>
              </a:rPr>
              <a:t>✗</a:t>
            </a:r>
          </a:p>
        </p:txBody>
      </p:sp>
      <p:sp>
        <p:nvSpPr>
          <p:cNvPr id="37" name="Shape 37"/>
          <p:cNvSpPr/>
          <p:nvPr/>
        </p:nvSpPr>
        <p:spPr>
          <a:xfrm>
            <a:off x="548640" y="3712464"/>
            <a:ext cx="1564995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09728" rIns="0" tIns="0" bIns="0" anchor="ctr"/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D1D1F"/>
                </a:solidFill>
                <a:latin typeface="Inter"/>
                <a:cs typeface="Inter"/>
              </a:rPr>
              <a:t>Apple «Диктовка»</a:t>
            </a:r>
          </a:p>
        </p:txBody>
      </p:sp>
      <p:sp>
        <p:nvSpPr>
          <p:cNvPr id="38" name="Shape 38"/>
          <p:cNvSpPr/>
          <p:nvPr/>
        </p:nvSpPr>
        <p:spPr>
          <a:xfrm>
            <a:off x="2113635" y="3712464"/>
            <a:ext cx="1192377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09728" rIns="0" tIns="0" bIns="0" anchor="ctr"/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D1D1F"/>
                </a:solidFill>
                <a:latin typeface="Inter"/>
                <a:cs typeface="Inter"/>
              </a:rPr>
              <a:t>0 ₸</a:t>
            </a:r>
          </a:p>
        </p:txBody>
      </p:sp>
      <p:sp>
        <p:nvSpPr>
          <p:cNvPr id="39" name="Shape 39"/>
          <p:cNvSpPr/>
          <p:nvPr/>
        </p:nvSpPr>
        <p:spPr>
          <a:xfrm>
            <a:off x="3306012" y="3712464"/>
            <a:ext cx="1266901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09728" rIns="0" tIns="0" bIns="0" anchor="ctr"/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6E6E73"/>
                </a:solidFill>
                <a:latin typeface="Inter"/>
                <a:cs typeface="Inter"/>
              </a:rPr>
              <a:t>✗</a:t>
            </a:r>
          </a:p>
        </p:txBody>
      </p:sp>
      <p:sp>
        <p:nvSpPr>
          <p:cNvPr id="40" name="Shape 40"/>
          <p:cNvSpPr/>
          <p:nvPr/>
        </p:nvSpPr>
        <p:spPr>
          <a:xfrm>
            <a:off x="4572913" y="3712464"/>
            <a:ext cx="894283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09728" rIns="0" tIns="0" bIns="0" anchor="ctr"/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6E6E73"/>
                </a:solidFill>
                <a:latin typeface="Inter"/>
                <a:cs typeface="Inter"/>
              </a:rPr>
              <a:t>✗</a:t>
            </a:r>
          </a:p>
        </p:txBody>
      </p:sp>
      <p:sp>
        <p:nvSpPr>
          <p:cNvPr id="41" name="Shape 41"/>
          <p:cNvSpPr/>
          <p:nvPr/>
        </p:nvSpPr>
        <p:spPr>
          <a:xfrm>
            <a:off x="5467196" y="3712464"/>
            <a:ext cx="1192377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09728" rIns="0" tIns="0" bIns="0" anchor="ctr"/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6E6E73"/>
                </a:solidFill>
                <a:latin typeface="Inter"/>
                <a:cs typeface="Inter"/>
              </a:rPr>
              <a:t>✗</a:t>
            </a:r>
          </a:p>
        </p:txBody>
      </p:sp>
      <p:sp>
        <p:nvSpPr>
          <p:cNvPr id="42" name="Shape 42"/>
          <p:cNvSpPr/>
          <p:nvPr/>
        </p:nvSpPr>
        <p:spPr>
          <a:xfrm>
            <a:off x="6659573" y="3712464"/>
            <a:ext cx="1341427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09728" rIns="0" tIns="0" bIns="0" anchor="ctr"/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6E6E73"/>
                </a:solidFill>
                <a:latin typeface="Inter"/>
                <a:cs typeface="Inter"/>
              </a:rPr>
              <a:t>✗</a:t>
            </a:r>
          </a:p>
        </p:txBody>
      </p:sp>
      <p:sp>
        <p:nvSpPr>
          <p:cNvPr id="43" name="Shape 43"/>
          <p:cNvSpPr/>
          <p:nvPr/>
        </p:nvSpPr>
        <p:spPr>
          <a:xfrm>
            <a:off x="8183880" y="1426464"/>
            <a:ext cx="3459175" cy="2761488"/>
          </a:xfrm>
          <a:prstGeom prst="roundRect">
            <a:avLst>
              <a:gd name="adj" fmla="val 7000"/>
            </a:avLst>
          </a:prstGeom>
          <a:solidFill>
            <a:srgbClr val="1D1D1F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pic>
        <p:nvPicPr>
          <p:cNvPr id="44" name="Picture 44" descr="screenshot-permi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7098" y="1554480"/>
            <a:ext cx="1992738" cy="2066544"/>
          </a:xfrm>
          <a:prstGeom prst="rect">
            <a:avLst/>
          </a:prstGeom>
        </p:spPr>
      </p:pic>
      <p:sp>
        <p:nvSpPr>
          <p:cNvPr id="45" name="Shape 45"/>
          <p:cNvSpPr txBox="1"/>
          <p:nvPr/>
        </p:nvSpPr>
        <p:spPr>
          <a:xfrm>
            <a:off x="8330184" y="3694176"/>
            <a:ext cx="3166567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780" b="0" i="0">
                <a:solidFill>
                  <a:srgbClr val="FFFFFF"/>
                </a:solidFill>
                <a:latin typeface="Inter"/>
                <a:cs typeface="Inter"/>
              </a:rPr>
              <a:t>ScreenCaptureKit, Accessibility API и подпись SR9LWJ7XG9</a:t>
            </a:r>
          </a:p>
        </p:txBody>
      </p:sp>
      <p:sp>
        <p:nvSpPr>
          <p:cNvPr id="46" name="Shape 46"/>
          <p:cNvSpPr/>
          <p:nvPr/>
        </p:nvSpPr>
        <p:spPr>
          <a:xfrm>
            <a:off x="548640" y="4462272"/>
            <a:ext cx="11094415" cy="1481328"/>
          </a:xfrm>
          <a:prstGeom prst="roundRect">
            <a:avLst>
              <a:gd name="adj" fmla="val 7000"/>
            </a:avLst>
          </a:prstGeom>
          <a:solidFill>
            <a:srgbClr val="ECECF1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47" name="Shape 47"/>
          <p:cNvSpPr txBox="1"/>
          <p:nvPr/>
        </p:nvSpPr>
        <p:spPr>
          <a:xfrm>
            <a:off x="786384" y="4626864"/>
            <a:ext cx="1061892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6E6E73"/>
                </a:solidFill>
                <a:latin typeface="Inter"/>
                <a:cs typeface="Inter"/>
              </a:rPr>
              <a:t>В ЧЁМ ИННОВАЦИОННОСТЬ</a:t>
            </a:r>
          </a:p>
        </p:txBody>
      </p:sp>
      <p:sp>
        <p:nvSpPr>
          <p:cNvPr id="48" name="Shape 48"/>
          <p:cNvSpPr txBox="1"/>
          <p:nvPr/>
        </p:nvSpPr>
        <p:spPr>
          <a:xfrm>
            <a:off x="786384" y="4901184"/>
            <a:ext cx="164592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950" b="1" i="0">
                <a:solidFill>
                  <a:srgbClr val="0071E3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49" name="Shape 49"/>
          <p:cNvSpPr txBox="1"/>
          <p:nvPr/>
        </p:nvSpPr>
        <p:spPr>
          <a:xfrm>
            <a:off x="969264" y="4901184"/>
            <a:ext cx="316169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50" b="1" i="0">
                <a:solidFill>
                  <a:srgbClr val="1D1D1F"/>
                </a:solidFill>
                <a:latin typeface="Inter"/>
                <a:cs typeface="Inter"/>
              </a:rPr>
              <a:t>Облачный ASR вместо локальной модели. </a:t>
            </a:r>
            <a:r>
              <a:rPr sz="850" b="0" i="0">
                <a:solidFill>
                  <a:srgbClr val="6E6E73"/>
                </a:solidFill>
                <a:latin typeface="Inter"/>
                <a:cs typeface="Inter"/>
              </a:rPr>
              <a:t>Приложение весит мегабайты, а не гигабайты, и не греет Mac.</a:t>
            </a:r>
          </a:p>
        </p:txBody>
      </p:sp>
      <p:sp>
        <p:nvSpPr>
          <p:cNvPr id="50" name="Shape 50"/>
          <p:cNvSpPr txBox="1"/>
          <p:nvPr/>
        </p:nvSpPr>
        <p:spPr>
          <a:xfrm>
            <a:off x="4423562" y="4901184"/>
            <a:ext cx="164592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950" b="1" i="0">
                <a:solidFill>
                  <a:srgbClr val="0071E3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51" name="Shape 51"/>
          <p:cNvSpPr txBox="1"/>
          <p:nvPr/>
        </p:nvSpPr>
        <p:spPr>
          <a:xfrm>
            <a:off x="4606442" y="4901184"/>
            <a:ext cx="316169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50" b="1" i="0">
                <a:solidFill>
                  <a:srgbClr val="1D1D1F"/>
                </a:solidFill>
                <a:latin typeface="Inter"/>
                <a:cs typeface="Inter"/>
              </a:rPr>
              <a:t>Вставка через Accessibility API: </a:t>
            </a:r>
            <a:r>
              <a:rPr sz="850" b="0" i="0">
                <a:solidFill>
                  <a:srgbClr val="6E6E73"/>
                </a:solidFill>
                <a:latin typeface="Inter"/>
                <a:cs typeface="Inter"/>
              </a:rPr>
              <a:t>текст печатается прямо у курсора и очищается режимом Cleanup.</a:t>
            </a:r>
          </a:p>
        </p:txBody>
      </p:sp>
      <p:sp>
        <p:nvSpPr>
          <p:cNvPr id="52" name="Shape 52"/>
          <p:cNvSpPr txBox="1"/>
          <p:nvPr/>
        </p:nvSpPr>
        <p:spPr>
          <a:xfrm>
            <a:off x="8060740" y="4901184"/>
            <a:ext cx="164592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950" b="1" i="0">
                <a:solidFill>
                  <a:srgbClr val="0071E3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53" name="Shape 53"/>
          <p:cNvSpPr txBox="1"/>
          <p:nvPr/>
        </p:nvSpPr>
        <p:spPr>
          <a:xfrm>
            <a:off x="8243620" y="4901184"/>
            <a:ext cx="316169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50" b="1" i="0">
                <a:solidFill>
                  <a:srgbClr val="1D1D1F"/>
                </a:solidFill>
                <a:latin typeface="Inter"/>
                <a:cs typeface="Inter"/>
              </a:rPr>
              <a:t>Системный звук через ScreenCaptureKit: </a:t>
            </a:r>
            <a:r>
              <a:rPr sz="850" b="0" i="0">
                <a:solidFill>
                  <a:srgbClr val="6E6E73"/>
                </a:solidFill>
                <a:latin typeface="Inter"/>
                <a:cs typeface="Inter"/>
              </a:rPr>
              <a:t>созвоны и видео транскрибируются прямо с аудиодорожки Mac.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4" name="Shape 4"/>
          <p:cNvSpPr/>
          <p:nvPr/>
        </p:nvSpPr>
        <p:spPr>
          <a:xfrm>
            <a:off x="11167567" y="310896"/>
            <a:ext cx="47548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6E6E73"/>
                </a:solidFill>
                <a:latin typeface="JetBrains Mono"/>
                <a:cs typeface="JetBrains Mono"/>
              </a:rPr>
              <a:t>04/09</a:t>
            </a:r>
          </a:p>
        </p:txBody>
      </p:sp>
      <p:sp>
        <p:nvSpPr>
          <p:cNvPr id="5" name="Shape 5"/>
          <p:cNvSpPr/>
          <p:nvPr/>
        </p:nvSpPr>
        <p:spPr>
          <a:xfrm>
            <a:off x="548640" y="329184"/>
            <a:ext cx="517551" cy="274320"/>
          </a:xfrm>
          <a:prstGeom prst="roundRect">
            <a:avLst>
              <a:gd name="adj" fmla="val 50000"/>
            </a:avLst>
          </a:prstGeom>
          <a:solidFill>
            <a:srgbClr val="E8F2F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0071E3"/>
                </a:solidFill>
                <a:latin typeface="Inter"/>
                <a:cs typeface="Inter"/>
              </a:rPr>
              <a:t>КПД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48640" y="676656"/>
            <a:ext cx="9814255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4000"/>
              </a:lnSpc>
            </a:pPr>
            <a:r>
              <a:rPr sz="2800" b="1" i="0">
                <a:solidFill>
                  <a:srgbClr val="1D1D1F"/>
                </a:solidFill>
                <a:latin typeface="Inter"/>
                <a:cs typeface="Inter"/>
              </a:rPr>
              <a:t>Выгоды </a:t>
            </a:r>
            <a:r>
              <a:rPr sz="2800" b="1" i="0">
                <a:solidFill>
                  <a:srgbClr val="0071E3"/>
                </a:solidFill>
                <a:latin typeface="Inter"/>
                <a:cs typeface="Inter"/>
              </a:rPr>
              <a:t>обществу и региону</a:t>
            </a:r>
          </a:p>
        </p:txBody>
      </p:sp>
      <p:sp>
        <p:nvSpPr>
          <p:cNvPr id="7" name="Shape 7"/>
          <p:cNvSpPr/>
          <p:nvPr/>
        </p:nvSpPr>
        <p:spPr>
          <a:xfrm>
            <a:off x="548640" y="1426464"/>
            <a:ext cx="3576218" cy="28895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8" name="Shape 8"/>
          <p:cNvSpPr/>
          <p:nvPr/>
        </p:nvSpPr>
        <p:spPr>
          <a:xfrm>
            <a:off x="786384" y="1645920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E8F2F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0071E3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786384" y="2157984"/>
            <a:ext cx="310073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D1D1F"/>
                </a:solidFill>
                <a:latin typeface="Inter"/>
                <a:cs typeface="Inter"/>
              </a:rPr>
              <a:t>Обществу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786384" y="2578608"/>
            <a:ext cx="164592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920" b="1" i="0">
                <a:solidFill>
                  <a:srgbClr val="0071E3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969264" y="2578608"/>
            <a:ext cx="291785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20" b="1" i="0">
                <a:solidFill>
                  <a:srgbClr val="1D1D1F"/>
                </a:solidFill>
                <a:latin typeface="Inter"/>
                <a:cs typeface="Inter"/>
              </a:rPr>
              <a:t>Доступность. </a:t>
            </a:r>
            <a:r>
              <a:rPr sz="820" b="0" i="0">
                <a:solidFill>
                  <a:srgbClr val="6E6E73"/>
                </a:solidFill>
                <a:latin typeface="Inter"/>
                <a:cs typeface="Inter"/>
              </a:rPr>
              <a:t>Голосовой ввод возвращает работу с текстом людям с нарушениями моторики и зрения.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786384" y="3090672"/>
            <a:ext cx="164592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920" b="1" i="0">
                <a:solidFill>
                  <a:srgbClr val="0071E3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969264" y="3090672"/>
            <a:ext cx="291785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20" b="1" i="0">
                <a:solidFill>
                  <a:srgbClr val="1D1D1F"/>
                </a:solidFill>
                <a:latin typeface="Inter"/>
                <a:cs typeface="Inter"/>
              </a:rPr>
              <a:t>Язык и культура. </a:t>
            </a:r>
            <a:r>
              <a:rPr sz="820" b="0" i="0">
                <a:solidFill>
                  <a:srgbClr val="6E6E73"/>
                </a:solidFill>
                <a:latin typeface="Inter"/>
                <a:cs typeface="Inter"/>
              </a:rPr>
              <a:t>Казахский интерфейс — редкий случай для нишевого macOS-софта; распознавание — более 100 языков.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786384" y="3602736"/>
            <a:ext cx="164592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920" b="1" i="0">
                <a:solidFill>
                  <a:srgbClr val="0071E3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969264" y="3602736"/>
            <a:ext cx="291785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20" b="1" i="0">
                <a:solidFill>
                  <a:srgbClr val="1D1D1F"/>
                </a:solidFill>
                <a:latin typeface="Inter"/>
                <a:cs typeface="Inter"/>
              </a:rPr>
              <a:t>Бесплатный доступ. </a:t>
            </a:r>
            <a:r>
              <a:rPr sz="820" b="0" i="0">
                <a:solidFill>
                  <a:srgbClr val="6E6E73"/>
                </a:solidFill>
                <a:latin typeface="Inter"/>
                <a:cs typeface="Inter"/>
              </a:rPr>
              <a:t>Студенты, учителя и малый бизнес получают инструмент без подписки.</a:t>
            </a:r>
          </a:p>
        </p:txBody>
      </p:sp>
      <p:sp>
        <p:nvSpPr>
          <p:cNvPr id="16" name="Shape 16"/>
          <p:cNvSpPr/>
          <p:nvPr/>
        </p:nvSpPr>
        <p:spPr>
          <a:xfrm>
            <a:off x="4307738" y="1426464"/>
            <a:ext cx="3576218" cy="2889504"/>
          </a:xfrm>
          <a:prstGeom prst="roundRect">
            <a:avLst>
              <a:gd name="adj" fmla="val 7000"/>
            </a:avLst>
          </a:prstGeom>
          <a:solidFill>
            <a:srgbClr val="0071E3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17" name="Shape 17"/>
          <p:cNvSpPr/>
          <p:nvPr/>
        </p:nvSpPr>
        <p:spPr>
          <a:xfrm>
            <a:off x="4545482" y="1645920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0071E3"/>
                </a:solidFill>
                <a:latin typeface="Inter"/>
                <a:cs typeface="Inter"/>
              </a:rPr>
              <a:t>▲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4545482" y="2157984"/>
            <a:ext cx="310073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Inter"/>
                <a:cs typeface="Inter"/>
              </a:rPr>
              <a:t>Экономике региона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4545482" y="2578608"/>
            <a:ext cx="164592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920" b="1" i="0">
                <a:solidFill>
                  <a:srgbClr val="FFFFFF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4728362" y="2578608"/>
            <a:ext cx="291785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20" b="1" i="0">
                <a:solidFill>
                  <a:srgbClr val="FFFFFF"/>
                </a:solidFill>
                <a:latin typeface="Inter"/>
                <a:cs typeface="Inter"/>
              </a:rPr>
              <a:t>Экономия рабочего времени. </a:t>
            </a:r>
            <a:r>
              <a:rPr sz="820" b="0" i="0">
                <a:solidFill>
                  <a:srgbClr val="FFFFFF"/>
                </a:solidFill>
                <a:latin typeface="Inter"/>
                <a:cs typeface="Inter"/>
              </a:rPr>
              <a:t>Часы, которые специалисты тратят на набор, а не на работу.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4545482" y="3090672"/>
            <a:ext cx="164592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920" b="1" i="0">
                <a:solidFill>
                  <a:srgbClr val="FFFFFF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4728362" y="3090672"/>
            <a:ext cx="291785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20" b="1" i="0">
                <a:solidFill>
                  <a:srgbClr val="FFFFFF"/>
                </a:solidFill>
                <a:latin typeface="Inter"/>
                <a:cs typeface="Inter"/>
              </a:rPr>
              <a:t>Импортозамещение. </a:t>
            </a:r>
            <a:r>
              <a:rPr sz="820" b="0" i="0">
                <a:solidFill>
                  <a:srgbClr val="FFFFFF"/>
                </a:solidFill>
                <a:latin typeface="Inter"/>
                <a:cs typeface="Inter"/>
              </a:rPr>
              <a:t>Платные зарубежные подписки заменяются бесплатным локальным продуктом.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4545482" y="3602736"/>
            <a:ext cx="164592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920" b="1" i="0">
                <a:solidFill>
                  <a:srgbClr val="FFFFFF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4728362" y="3602736"/>
            <a:ext cx="291785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20" b="1" i="0">
                <a:solidFill>
                  <a:srgbClr val="FFFFFF"/>
                </a:solidFill>
                <a:latin typeface="Inter"/>
                <a:cs typeface="Inter"/>
              </a:rPr>
              <a:t>Налоговая база. </a:t>
            </a:r>
            <a:r>
              <a:rPr sz="820" b="0" i="0">
                <a:solidFill>
                  <a:srgbClr val="FFFFFF"/>
                </a:solidFill>
                <a:latin typeface="Inter"/>
                <a:cs typeface="Inter"/>
              </a:rPr>
              <a:t>Платная версия и корпоративные внедрения оформляются как резидент Казахстана.</a:t>
            </a:r>
          </a:p>
        </p:txBody>
      </p:sp>
      <p:sp>
        <p:nvSpPr>
          <p:cNvPr id="25" name="Shape 25"/>
          <p:cNvSpPr/>
          <p:nvPr/>
        </p:nvSpPr>
        <p:spPr>
          <a:xfrm>
            <a:off x="8066836" y="1426464"/>
            <a:ext cx="3576218" cy="28895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26" name="Shape 26"/>
          <p:cNvSpPr/>
          <p:nvPr/>
        </p:nvSpPr>
        <p:spPr>
          <a:xfrm>
            <a:off x="8304580" y="1645920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E8F2F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0071E3"/>
                </a:solidFill>
                <a:latin typeface="Inter"/>
                <a:cs typeface="Inter"/>
              </a:rPr>
              <a:t>◆</a:t>
            </a:r>
          </a:p>
        </p:txBody>
      </p:sp>
      <p:sp>
        <p:nvSpPr>
          <p:cNvPr id="27" name="Shape 27"/>
          <p:cNvSpPr txBox="1"/>
          <p:nvPr/>
        </p:nvSpPr>
        <p:spPr>
          <a:xfrm>
            <a:off x="8304580" y="2157984"/>
            <a:ext cx="310073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D1D1F"/>
                </a:solidFill>
                <a:latin typeface="Inter"/>
                <a:cs typeface="Inter"/>
              </a:rPr>
              <a:t>Компетенциям</a:t>
            </a:r>
          </a:p>
        </p:txBody>
      </p:sp>
      <p:sp>
        <p:nvSpPr>
          <p:cNvPr id="28" name="Shape 28"/>
          <p:cNvSpPr txBox="1"/>
          <p:nvPr/>
        </p:nvSpPr>
        <p:spPr>
          <a:xfrm>
            <a:off x="8304580" y="2578608"/>
            <a:ext cx="164592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920" b="1" i="0">
                <a:solidFill>
                  <a:srgbClr val="0071E3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29" name="Shape 29"/>
          <p:cNvSpPr txBox="1"/>
          <p:nvPr/>
        </p:nvSpPr>
        <p:spPr>
          <a:xfrm>
            <a:off x="8487460" y="2578608"/>
            <a:ext cx="291785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20" b="1" i="0">
                <a:solidFill>
                  <a:srgbClr val="1D1D1F"/>
                </a:solidFill>
                <a:latin typeface="Inter"/>
                <a:cs typeface="Inter"/>
              </a:rPr>
              <a:t>Открытый код как учебный материал. </a:t>
            </a:r>
            <a:r>
              <a:rPr sz="820" b="0" i="0">
                <a:solidFill>
                  <a:srgbClr val="6E6E73"/>
                </a:solidFill>
                <a:latin typeface="Inter"/>
                <a:cs typeface="Inter"/>
              </a:rPr>
              <a:t>3 000+ строк Swift на GitHub — площадка для студентов.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8304580" y="3090672"/>
            <a:ext cx="164592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920" b="1" i="0">
                <a:solidFill>
                  <a:srgbClr val="0071E3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31" name="Shape 31"/>
          <p:cNvSpPr txBox="1"/>
          <p:nvPr/>
        </p:nvSpPr>
        <p:spPr>
          <a:xfrm>
            <a:off x="8487460" y="3090672"/>
            <a:ext cx="291785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20" b="1" i="0">
                <a:solidFill>
                  <a:srgbClr val="1D1D1F"/>
                </a:solidFill>
                <a:latin typeface="Inter"/>
                <a:cs typeface="Inter"/>
              </a:rPr>
              <a:t>Экспортный потенциал. </a:t>
            </a:r>
            <a:r>
              <a:rPr sz="820" b="0" i="0">
                <a:solidFill>
                  <a:srgbClr val="6E6E73"/>
                </a:solidFill>
                <a:latin typeface="Inter"/>
                <a:cs typeface="Inter"/>
              </a:rPr>
              <a:t>Продукт для глобального macOS-рынка, созданный в регионе.</a:t>
            </a:r>
          </a:p>
        </p:txBody>
      </p:sp>
      <p:sp>
        <p:nvSpPr>
          <p:cNvPr id="32" name="Shape 32"/>
          <p:cNvSpPr txBox="1"/>
          <p:nvPr/>
        </p:nvSpPr>
        <p:spPr>
          <a:xfrm>
            <a:off x="8304580" y="3602736"/>
            <a:ext cx="164592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920" b="1" i="0">
                <a:solidFill>
                  <a:srgbClr val="0071E3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33" name="Shape 33"/>
          <p:cNvSpPr txBox="1"/>
          <p:nvPr/>
        </p:nvSpPr>
        <p:spPr>
          <a:xfrm>
            <a:off x="8487460" y="3602736"/>
            <a:ext cx="291785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20" b="1" i="0">
                <a:solidFill>
                  <a:srgbClr val="1D1D1F"/>
                </a:solidFill>
                <a:latin typeface="Inter"/>
                <a:cs typeface="Inter"/>
              </a:rPr>
              <a:t>Рабочие места. </a:t>
            </a:r>
            <a:r>
              <a:rPr sz="820" b="0" i="0">
                <a:solidFill>
                  <a:srgbClr val="6E6E73"/>
                </a:solidFill>
                <a:latin typeface="Inter"/>
                <a:cs typeface="Inter"/>
              </a:rPr>
              <a:t>План найма: продуктовый маркетинг, продажи и поддержка в 2027 году.</a:t>
            </a:r>
          </a:p>
        </p:txBody>
      </p:sp>
      <p:sp>
        <p:nvSpPr>
          <p:cNvPr id="34" name="Shape 34"/>
          <p:cNvSpPr/>
          <p:nvPr/>
        </p:nvSpPr>
        <p:spPr>
          <a:xfrm>
            <a:off x="548640" y="4498848"/>
            <a:ext cx="11094415" cy="1755648"/>
          </a:xfrm>
          <a:prstGeom prst="roundRect">
            <a:avLst>
              <a:gd name="adj" fmla="val 7000"/>
            </a:avLst>
          </a:prstGeom>
          <a:solidFill>
            <a:srgbClr val="ECECF1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35" name="Shape 35"/>
          <p:cNvSpPr txBox="1"/>
          <p:nvPr/>
        </p:nvSpPr>
        <p:spPr>
          <a:xfrm>
            <a:off x="786384" y="4663440"/>
            <a:ext cx="10618927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6E6E73"/>
                </a:solidFill>
                <a:latin typeface="Inter"/>
                <a:cs typeface="Inter"/>
              </a:rPr>
              <a:t>РАСЧЁТ ЭФФЕКТА · 12 МЕСЯЦЕВ</a:t>
            </a:r>
          </a:p>
        </p:txBody>
      </p:sp>
      <p:sp>
        <p:nvSpPr>
          <p:cNvPr id="36" name="Shape 36"/>
          <p:cNvSpPr txBox="1"/>
          <p:nvPr/>
        </p:nvSpPr>
        <p:spPr>
          <a:xfrm>
            <a:off x="786384" y="4937760"/>
            <a:ext cx="2407843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D1D1F"/>
                </a:solidFill>
                <a:latin typeface="Inter"/>
                <a:cs typeface="Inter"/>
              </a:rPr>
              <a:t>5 000</a:t>
            </a:r>
          </a:p>
        </p:txBody>
      </p:sp>
      <p:sp>
        <p:nvSpPr>
          <p:cNvPr id="37" name="Shape 37"/>
          <p:cNvSpPr txBox="1"/>
          <p:nvPr/>
        </p:nvSpPr>
        <p:spPr>
          <a:xfrm>
            <a:off x="786384" y="5358384"/>
            <a:ext cx="2407843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6E6E73"/>
                </a:solidFill>
                <a:latin typeface="JetBrains Mono"/>
                <a:cs typeface="JetBrains Mono"/>
              </a:rPr>
              <a:t>ПОЛЬЗОВАТЕЛЕЙ ЗА ГОД</a:t>
            </a:r>
          </a:p>
        </p:txBody>
      </p:sp>
      <p:sp>
        <p:nvSpPr>
          <p:cNvPr id="38" name="Shape 38"/>
          <p:cNvSpPr txBox="1"/>
          <p:nvPr/>
        </p:nvSpPr>
        <p:spPr>
          <a:xfrm>
            <a:off x="3194227" y="4937760"/>
            <a:ext cx="32918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6E6E73"/>
                </a:solidFill>
                <a:latin typeface="Inter"/>
                <a:cs typeface="Inter"/>
              </a:rPr>
              <a:t>×</a:t>
            </a:r>
          </a:p>
        </p:txBody>
      </p:sp>
      <p:sp>
        <p:nvSpPr>
          <p:cNvPr id="39" name="Shape 39"/>
          <p:cNvSpPr txBox="1"/>
          <p:nvPr/>
        </p:nvSpPr>
        <p:spPr>
          <a:xfrm>
            <a:off x="3523411" y="4937760"/>
            <a:ext cx="2407843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D1D1F"/>
                </a:solidFill>
                <a:latin typeface="Inter"/>
                <a:cs typeface="Inter"/>
              </a:rPr>
              <a:t>40 мин</a:t>
            </a:r>
          </a:p>
        </p:txBody>
      </p:sp>
      <p:sp>
        <p:nvSpPr>
          <p:cNvPr id="40" name="Shape 40"/>
          <p:cNvSpPr txBox="1"/>
          <p:nvPr/>
        </p:nvSpPr>
        <p:spPr>
          <a:xfrm>
            <a:off x="3523411" y="5358384"/>
            <a:ext cx="2407843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6E6E73"/>
                </a:solidFill>
                <a:latin typeface="JetBrains Mono"/>
                <a:cs typeface="JetBrains Mono"/>
              </a:rPr>
              <a:t>ЭКОНОМИИ В ДЕНЬ НА ЧЕЛОВЕКА</a:t>
            </a:r>
          </a:p>
        </p:txBody>
      </p:sp>
      <p:sp>
        <p:nvSpPr>
          <p:cNvPr id="41" name="Shape 41"/>
          <p:cNvSpPr txBox="1"/>
          <p:nvPr/>
        </p:nvSpPr>
        <p:spPr>
          <a:xfrm>
            <a:off x="5931254" y="4937760"/>
            <a:ext cx="32918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6E6E73"/>
                </a:solidFill>
                <a:latin typeface="Inter"/>
                <a:cs typeface="Inter"/>
              </a:rPr>
              <a:t>×</a:t>
            </a:r>
          </a:p>
        </p:txBody>
      </p:sp>
      <p:sp>
        <p:nvSpPr>
          <p:cNvPr id="42" name="Shape 42"/>
          <p:cNvSpPr txBox="1"/>
          <p:nvPr/>
        </p:nvSpPr>
        <p:spPr>
          <a:xfrm>
            <a:off x="6260438" y="4937760"/>
            <a:ext cx="2407843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D1D1F"/>
                </a:solidFill>
                <a:latin typeface="Inter"/>
                <a:cs typeface="Inter"/>
              </a:rPr>
              <a:t>220</a:t>
            </a:r>
          </a:p>
        </p:txBody>
      </p:sp>
      <p:sp>
        <p:nvSpPr>
          <p:cNvPr id="43" name="Shape 43"/>
          <p:cNvSpPr txBox="1"/>
          <p:nvPr/>
        </p:nvSpPr>
        <p:spPr>
          <a:xfrm>
            <a:off x="6260438" y="5358384"/>
            <a:ext cx="2407843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6E6E73"/>
                </a:solidFill>
                <a:latin typeface="JetBrains Mono"/>
                <a:cs typeface="JetBrains Mono"/>
              </a:rPr>
              <a:t>РАБОЧИХ ДНЕЙ</a:t>
            </a:r>
          </a:p>
        </p:txBody>
      </p:sp>
      <p:sp>
        <p:nvSpPr>
          <p:cNvPr id="44" name="Shape 44"/>
          <p:cNvSpPr txBox="1"/>
          <p:nvPr/>
        </p:nvSpPr>
        <p:spPr>
          <a:xfrm>
            <a:off x="8668281" y="4937760"/>
            <a:ext cx="32918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6E6E73"/>
                </a:solidFill>
                <a:latin typeface="Inter"/>
                <a:cs typeface="Inter"/>
              </a:rPr>
              <a:t>×</a:t>
            </a:r>
          </a:p>
        </p:txBody>
      </p:sp>
      <p:sp>
        <p:nvSpPr>
          <p:cNvPr id="45" name="Shape 45"/>
          <p:cNvSpPr txBox="1"/>
          <p:nvPr/>
        </p:nvSpPr>
        <p:spPr>
          <a:xfrm>
            <a:off x="8997465" y="4937760"/>
            <a:ext cx="2407843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071E3"/>
                </a:solidFill>
                <a:latin typeface="Inter"/>
                <a:cs typeface="Inter"/>
              </a:rPr>
              <a:t>≈ 0,7 млн</a:t>
            </a:r>
          </a:p>
        </p:txBody>
      </p:sp>
      <p:sp>
        <p:nvSpPr>
          <p:cNvPr id="46" name="Shape 46"/>
          <p:cNvSpPr txBox="1"/>
          <p:nvPr/>
        </p:nvSpPr>
        <p:spPr>
          <a:xfrm>
            <a:off x="8997465" y="5358384"/>
            <a:ext cx="2407843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6E6E73"/>
                </a:solidFill>
                <a:latin typeface="JetBrains Mono"/>
                <a:cs typeface="JetBrains Mono"/>
              </a:rPr>
              <a:t>ЧЕЛОВЕКО-ЧАСОВ В ГОД</a:t>
            </a:r>
          </a:p>
        </p:txBody>
      </p:sp>
      <p:sp>
        <p:nvSpPr>
          <p:cNvPr id="47" name="Shape 47"/>
          <p:cNvSpPr txBox="1"/>
          <p:nvPr/>
        </p:nvSpPr>
        <p:spPr>
          <a:xfrm>
            <a:off x="786384" y="5705856"/>
            <a:ext cx="10618927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6E6E73"/>
                </a:solidFill>
                <a:latin typeface="Inter"/>
                <a:cs typeface="Inter"/>
              </a:rPr>
              <a:t>Это эквивалент примерно 400 полных ставок в год — время, которое регион получает без единого тенге бюджетных затрат.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4" name="Shape 4"/>
          <p:cNvSpPr/>
          <p:nvPr/>
        </p:nvSpPr>
        <p:spPr>
          <a:xfrm>
            <a:off x="11167567" y="310896"/>
            <a:ext cx="47548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6E6E73"/>
                </a:solidFill>
                <a:latin typeface="JetBrains Mono"/>
                <a:cs typeface="JetBrains Mono"/>
              </a:rPr>
              <a:t>05/09</a:t>
            </a:r>
          </a:p>
        </p:txBody>
      </p:sp>
      <p:sp>
        <p:nvSpPr>
          <p:cNvPr id="5" name="Shape 5"/>
          <p:cNvSpPr/>
          <p:nvPr/>
        </p:nvSpPr>
        <p:spPr>
          <a:xfrm>
            <a:off x="548640" y="329184"/>
            <a:ext cx="1417323" cy="274320"/>
          </a:xfrm>
          <a:prstGeom prst="roundRect">
            <a:avLst>
              <a:gd name="adj" fmla="val 50000"/>
            </a:avLst>
          </a:prstGeom>
          <a:solidFill>
            <a:srgbClr val="E8F2F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0071E3"/>
                </a:solidFill>
                <a:latin typeface="Inter"/>
                <a:cs typeface="Inter"/>
              </a:rPr>
              <a:t>ПЛАН РЕАЛИЗАЦИИ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48640" y="676656"/>
            <a:ext cx="9814255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4000"/>
              </a:lnSpc>
            </a:pPr>
            <a:r>
              <a:rPr sz="2800" b="1" i="0">
                <a:solidFill>
                  <a:srgbClr val="1D1D1F"/>
                </a:solidFill>
                <a:latin typeface="Inter"/>
                <a:cs typeface="Inter"/>
              </a:rPr>
              <a:t>От продукта к </a:t>
            </a:r>
            <a:r>
              <a:rPr sz="2800" b="1" i="0">
                <a:solidFill>
                  <a:srgbClr val="0071E3"/>
                </a:solidFill>
                <a:latin typeface="Inter"/>
                <a:cs typeface="Inter"/>
              </a:rPr>
              <a:t>платформе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548640" y="1225296"/>
            <a:ext cx="9997135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6E6E73"/>
                </a:solidFill>
                <a:latin typeface="Inter"/>
                <a:cs typeface="Inter"/>
              </a:rPr>
              <a:t>Пять этапов на 12 месяцев. Первый уже закрыт, остальные опираются на работающий продукт, а не на прототип.</a:t>
            </a:r>
          </a:p>
        </p:txBody>
      </p:sp>
      <p:sp>
        <p:nvSpPr>
          <p:cNvPr id="8" name="Shape 8"/>
          <p:cNvSpPr/>
          <p:nvPr/>
        </p:nvSpPr>
        <p:spPr>
          <a:xfrm>
            <a:off x="548640" y="1773936"/>
            <a:ext cx="2072579" cy="24505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9" name="Shape 9"/>
          <p:cNvSpPr/>
          <p:nvPr/>
        </p:nvSpPr>
        <p:spPr>
          <a:xfrm>
            <a:off x="548640" y="1773936"/>
            <a:ext cx="2072579" cy="73152"/>
          </a:xfrm>
          <a:prstGeom prst="rect">
            <a:avLst/>
          </a:prstGeom>
          <a:solidFill>
            <a:srgbClr val="28CD41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10" name="Shape 10"/>
          <p:cNvSpPr txBox="1"/>
          <p:nvPr/>
        </p:nvSpPr>
        <p:spPr>
          <a:xfrm>
            <a:off x="713232" y="1975104"/>
            <a:ext cx="17433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D1D1F"/>
                </a:solidFill>
                <a:latin typeface="Inter"/>
                <a:cs typeface="Inter"/>
              </a:rPr>
              <a:t>Q4 2026</a:t>
            </a:r>
          </a:p>
        </p:txBody>
      </p:sp>
      <p:sp>
        <p:nvSpPr>
          <p:cNvPr id="11" name="Shape 11"/>
          <p:cNvSpPr/>
          <p:nvPr/>
        </p:nvSpPr>
        <p:spPr>
          <a:xfrm>
            <a:off x="713232" y="2286000"/>
            <a:ext cx="649224" cy="219456"/>
          </a:xfrm>
          <a:prstGeom prst="roundRect">
            <a:avLst>
              <a:gd name="adj" fmla="val 50000"/>
            </a:avLst>
          </a:prstGeom>
          <a:solidFill>
            <a:srgbClr val="E8F2F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700" b="1" i="0">
                <a:solidFill>
                  <a:srgbClr val="0071E3"/>
                </a:solidFill>
                <a:latin typeface="Inter"/>
                <a:cs typeface="Inter"/>
              </a:rPr>
              <a:t>ГОТОВО</a:t>
            </a:r>
          </a:p>
        </p:txBody>
      </p:sp>
      <p:sp>
        <p:nvSpPr>
          <p:cNvPr id="12" name="Shape 12"/>
          <p:cNvSpPr/>
          <p:nvPr/>
        </p:nvSpPr>
        <p:spPr>
          <a:xfrm>
            <a:off x="713232" y="2688336"/>
            <a:ext cx="64008" cy="6400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13" name="Shape 13"/>
          <p:cNvSpPr txBox="1"/>
          <p:nvPr/>
        </p:nvSpPr>
        <p:spPr>
          <a:xfrm>
            <a:off x="841248" y="2633472"/>
            <a:ext cx="1670243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20" b="0" i="0">
                <a:solidFill>
                  <a:srgbClr val="6E6E73"/>
                </a:solidFill>
                <a:latin typeface="Inter"/>
                <a:cs typeface="Inter"/>
              </a:rPr>
              <a:t>Релиз 2.0 выпущен</a:t>
            </a:r>
          </a:p>
        </p:txBody>
      </p:sp>
      <p:sp>
        <p:nvSpPr>
          <p:cNvPr id="14" name="Shape 14"/>
          <p:cNvSpPr/>
          <p:nvPr/>
        </p:nvSpPr>
        <p:spPr>
          <a:xfrm>
            <a:off x="713232" y="3035808"/>
            <a:ext cx="64008" cy="6400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15" name="Shape 15"/>
          <p:cNvSpPr txBox="1"/>
          <p:nvPr/>
        </p:nvSpPr>
        <p:spPr>
          <a:xfrm>
            <a:off x="841248" y="2980944"/>
            <a:ext cx="1670243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20" b="0" i="0">
                <a:solidFill>
                  <a:srgbClr val="6E6E73"/>
                </a:solidFill>
                <a:latin typeface="Inter"/>
                <a:cs typeface="Inter"/>
              </a:rPr>
              <a:t>Системный звук и файлы</a:t>
            </a:r>
          </a:p>
        </p:txBody>
      </p:sp>
      <p:sp>
        <p:nvSpPr>
          <p:cNvPr id="16" name="Shape 16"/>
          <p:cNvSpPr/>
          <p:nvPr/>
        </p:nvSpPr>
        <p:spPr>
          <a:xfrm>
            <a:off x="713232" y="3383280"/>
            <a:ext cx="64008" cy="6400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17" name="Shape 17"/>
          <p:cNvSpPr txBox="1"/>
          <p:nvPr/>
        </p:nvSpPr>
        <p:spPr>
          <a:xfrm>
            <a:off x="841248" y="3328416"/>
            <a:ext cx="1670243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20" b="0" i="0">
                <a:solidFill>
                  <a:srgbClr val="6E6E73"/>
                </a:solidFill>
                <a:latin typeface="Inter"/>
                <a:cs typeface="Inter"/>
              </a:rPr>
              <a:t>История и 11 языков</a:t>
            </a:r>
          </a:p>
        </p:txBody>
      </p:sp>
      <p:sp>
        <p:nvSpPr>
          <p:cNvPr id="18" name="Shape 18"/>
          <p:cNvSpPr/>
          <p:nvPr/>
        </p:nvSpPr>
        <p:spPr>
          <a:xfrm>
            <a:off x="713232" y="3730752"/>
            <a:ext cx="64008" cy="6400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19" name="Shape 19"/>
          <p:cNvSpPr txBox="1"/>
          <p:nvPr/>
        </p:nvSpPr>
        <p:spPr>
          <a:xfrm>
            <a:off x="841248" y="3675888"/>
            <a:ext cx="1670243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20" b="0" i="0">
                <a:solidFill>
                  <a:srgbClr val="6E6E73"/>
                </a:solidFill>
                <a:latin typeface="Inter"/>
                <a:cs typeface="Inter"/>
              </a:rPr>
              <a:t>Сборки: ARM, Intel, универсальная</a:t>
            </a:r>
          </a:p>
        </p:txBody>
      </p:sp>
      <p:sp>
        <p:nvSpPr>
          <p:cNvPr id="20" name="Shape 20"/>
          <p:cNvSpPr/>
          <p:nvPr/>
        </p:nvSpPr>
        <p:spPr>
          <a:xfrm>
            <a:off x="2804099" y="1773936"/>
            <a:ext cx="2072579" cy="24505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21" name="Shape 21"/>
          <p:cNvSpPr/>
          <p:nvPr/>
        </p:nvSpPr>
        <p:spPr>
          <a:xfrm>
            <a:off x="2804099" y="1773936"/>
            <a:ext cx="2072579" cy="7315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22" name="Shape 22"/>
          <p:cNvSpPr txBox="1"/>
          <p:nvPr/>
        </p:nvSpPr>
        <p:spPr>
          <a:xfrm>
            <a:off x="2968691" y="1975104"/>
            <a:ext cx="17433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D1D1F"/>
                </a:solidFill>
                <a:latin typeface="Inter"/>
                <a:cs typeface="Inter"/>
              </a:rPr>
              <a:t>Q1 2027</a:t>
            </a:r>
          </a:p>
        </p:txBody>
      </p:sp>
      <p:sp>
        <p:nvSpPr>
          <p:cNvPr id="23" name="Shape 23"/>
          <p:cNvSpPr/>
          <p:nvPr/>
        </p:nvSpPr>
        <p:spPr>
          <a:xfrm>
            <a:off x="2968691" y="2286000"/>
            <a:ext cx="786384" cy="219456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700" b="1" i="0">
                <a:solidFill>
                  <a:srgbClr val="FFFFFF"/>
                </a:solidFill>
                <a:latin typeface="Inter"/>
                <a:cs typeface="Inter"/>
              </a:rPr>
              <a:t>В РАБОТЕ</a:t>
            </a:r>
          </a:p>
        </p:txBody>
      </p:sp>
      <p:sp>
        <p:nvSpPr>
          <p:cNvPr id="24" name="Shape 24"/>
          <p:cNvSpPr/>
          <p:nvPr/>
        </p:nvSpPr>
        <p:spPr>
          <a:xfrm>
            <a:off x="2968691" y="2688336"/>
            <a:ext cx="64008" cy="6400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25" name="Shape 25"/>
          <p:cNvSpPr txBox="1"/>
          <p:nvPr/>
        </p:nvSpPr>
        <p:spPr>
          <a:xfrm>
            <a:off x="3096707" y="2633472"/>
            <a:ext cx="1670243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20" b="0" i="0">
                <a:solidFill>
                  <a:srgbClr val="6E6E73"/>
                </a:solidFill>
                <a:latin typeface="Inter"/>
                <a:cs typeface="Inter"/>
              </a:rPr>
              <a:t>Лендинг продукта</a:t>
            </a:r>
          </a:p>
        </p:txBody>
      </p:sp>
      <p:sp>
        <p:nvSpPr>
          <p:cNvPr id="26" name="Shape 26"/>
          <p:cNvSpPr/>
          <p:nvPr/>
        </p:nvSpPr>
        <p:spPr>
          <a:xfrm>
            <a:off x="2968691" y="3035808"/>
            <a:ext cx="64008" cy="6400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27" name="Shape 27"/>
          <p:cNvSpPr txBox="1"/>
          <p:nvPr/>
        </p:nvSpPr>
        <p:spPr>
          <a:xfrm>
            <a:off x="3096707" y="2980944"/>
            <a:ext cx="1670243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20" b="0" i="0">
                <a:solidFill>
                  <a:srgbClr val="6E6E73"/>
                </a:solidFill>
                <a:latin typeface="Inter"/>
                <a:cs typeface="Inter"/>
              </a:rPr>
              <a:t>Заявка на грант GitHub</a:t>
            </a:r>
          </a:p>
        </p:txBody>
      </p:sp>
      <p:sp>
        <p:nvSpPr>
          <p:cNvPr id="28" name="Shape 28"/>
          <p:cNvSpPr/>
          <p:nvPr/>
        </p:nvSpPr>
        <p:spPr>
          <a:xfrm>
            <a:off x="2968691" y="3383280"/>
            <a:ext cx="64008" cy="6400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29" name="Shape 29"/>
          <p:cNvSpPr txBox="1"/>
          <p:nvPr/>
        </p:nvSpPr>
        <p:spPr>
          <a:xfrm>
            <a:off x="3096707" y="3328416"/>
            <a:ext cx="1670243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20" b="0" i="0">
                <a:solidFill>
                  <a:srgbClr val="6E6E73"/>
                </a:solidFill>
                <a:latin typeface="Inter"/>
                <a:cs typeface="Inter"/>
              </a:rPr>
              <a:t>Первые 1 000 установок</a:t>
            </a:r>
          </a:p>
        </p:txBody>
      </p:sp>
      <p:sp>
        <p:nvSpPr>
          <p:cNvPr id="30" name="Shape 30"/>
          <p:cNvSpPr/>
          <p:nvPr/>
        </p:nvSpPr>
        <p:spPr>
          <a:xfrm>
            <a:off x="2968691" y="3730752"/>
            <a:ext cx="64008" cy="6400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31" name="Shape 31"/>
          <p:cNvSpPr txBox="1"/>
          <p:nvPr/>
        </p:nvSpPr>
        <p:spPr>
          <a:xfrm>
            <a:off x="3096707" y="3675888"/>
            <a:ext cx="1670243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20" b="0" i="0">
                <a:solidFill>
                  <a:srgbClr val="6E6E73"/>
                </a:solidFill>
                <a:latin typeface="Inter"/>
                <a:cs typeface="Inter"/>
              </a:rPr>
              <a:t>Обратная связь и метрики</a:t>
            </a:r>
          </a:p>
        </p:txBody>
      </p:sp>
      <p:sp>
        <p:nvSpPr>
          <p:cNvPr id="32" name="Shape 32"/>
          <p:cNvSpPr/>
          <p:nvPr/>
        </p:nvSpPr>
        <p:spPr>
          <a:xfrm>
            <a:off x="5059558" y="1773936"/>
            <a:ext cx="2072579" cy="24505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33" name="Shape 33"/>
          <p:cNvSpPr/>
          <p:nvPr/>
        </p:nvSpPr>
        <p:spPr>
          <a:xfrm>
            <a:off x="5059558" y="1773936"/>
            <a:ext cx="2072579" cy="73152"/>
          </a:xfrm>
          <a:prstGeom prst="rect">
            <a:avLst/>
          </a:prstGeom>
          <a:solidFill>
            <a:srgbClr val="DCDCE2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34" name="Shape 34"/>
          <p:cNvSpPr txBox="1"/>
          <p:nvPr/>
        </p:nvSpPr>
        <p:spPr>
          <a:xfrm>
            <a:off x="5224150" y="1975104"/>
            <a:ext cx="17433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D1D1F"/>
                </a:solidFill>
                <a:latin typeface="Inter"/>
                <a:cs typeface="Inter"/>
              </a:rPr>
              <a:t>Q2 2027</a:t>
            </a:r>
          </a:p>
        </p:txBody>
      </p:sp>
      <p:sp>
        <p:nvSpPr>
          <p:cNvPr id="35" name="Shape 35"/>
          <p:cNvSpPr/>
          <p:nvPr/>
        </p:nvSpPr>
        <p:spPr>
          <a:xfrm>
            <a:off x="5224150" y="2688336"/>
            <a:ext cx="64008" cy="6400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36" name="Shape 36"/>
          <p:cNvSpPr txBox="1"/>
          <p:nvPr/>
        </p:nvSpPr>
        <p:spPr>
          <a:xfrm>
            <a:off x="5352166" y="2633472"/>
            <a:ext cx="1670243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20" b="0" i="0">
                <a:solidFill>
                  <a:srgbClr val="6E6E73"/>
                </a:solidFill>
                <a:latin typeface="Inter"/>
                <a:cs typeface="Inter"/>
              </a:rPr>
              <a:t>WhisperFly Pro</a:t>
            </a:r>
          </a:p>
        </p:txBody>
      </p:sp>
      <p:sp>
        <p:nvSpPr>
          <p:cNvPr id="37" name="Shape 37"/>
          <p:cNvSpPr/>
          <p:nvPr/>
        </p:nvSpPr>
        <p:spPr>
          <a:xfrm>
            <a:off x="5224150" y="3035808"/>
            <a:ext cx="64008" cy="6400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38" name="Shape 38"/>
          <p:cNvSpPr txBox="1"/>
          <p:nvPr/>
        </p:nvSpPr>
        <p:spPr>
          <a:xfrm>
            <a:off x="5352166" y="2980944"/>
            <a:ext cx="1670243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20" b="0" i="0">
                <a:solidFill>
                  <a:srgbClr val="6E6E73"/>
                </a:solidFill>
                <a:latin typeface="Inter"/>
                <a:cs typeface="Inter"/>
              </a:rPr>
              <a:t>Оплата и лицензии</a:t>
            </a:r>
          </a:p>
        </p:txBody>
      </p:sp>
      <p:sp>
        <p:nvSpPr>
          <p:cNvPr id="39" name="Shape 39"/>
          <p:cNvSpPr/>
          <p:nvPr/>
        </p:nvSpPr>
        <p:spPr>
          <a:xfrm>
            <a:off x="5224150" y="3383280"/>
            <a:ext cx="64008" cy="6400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40" name="Shape 40"/>
          <p:cNvSpPr txBox="1"/>
          <p:nvPr/>
        </p:nvSpPr>
        <p:spPr>
          <a:xfrm>
            <a:off x="5352166" y="3328416"/>
            <a:ext cx="1670243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20" b="0" i="0">
                <a:solidFill>
                  <a:srgbClr val="6E6E73"/>
                </a:solidFill>
                <a:latin typeface="Inter"/>
                <a:cs typeface="Inter"/>
              </a:rPr>
              <a:t>Свой словарь</a:t>
            </a:r>
          </a:p>
        </p:txBody>
      </p:sp>
      <p:sp>
        <p:nvSpPr>
          <p:cNvPr id="41" name="Shape 41"/>
          <p:cNvSpPr/>
          <p:nvPr/>
        </p:nvSpPr>
        <p:spPr>
          <a:xfrm>
            <a:off x="5224150" y="3730752"/>
            <a:ext cx="64008" cy="6400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42" name="Shape 42"/>
          <p:cNvSpPr txBox="1"/>
          <p:nvPr/>
        </p:nvSpPr>
        <p:spPr>
          <a:xfrm>
            <a:off x="5352166" y="3675888"/>
            <a:ext cx="1670243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20" b="0" i="0">
                <a:solidFill>
                  <a:srgbClr val="6E6E73"/>
                </a:solidFill>
                <a:latin typeface="Inter"/>
                <a:cs typeface="Inter"/>
              </a:rPr>
              <a:t>Найм: маркетинг</a:t>
            </a:r>
          </a:p>
        </p:txBody>
      </p:sp>
      <p:sp>
        <p:nvSpPr>
          <p:cNvPr id="43" name="Shape 43"/>
          <p:cNvSpPr/>
          <p:nvPr/>
        </p:nvSpPr>
        <p:spPr>
          <a:xfrm>
            <a:off x="7315017" y="1773936"/>
            <a:ext cx="2072579" cy="24505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44" name="Shape 44"/>
          <p:cNvSpPr/>
          <p:nvPr/>
        </p:nvSpPr>
        <p:spPr>
          <a:xfrm>
            <a:off x="7315017" y="1773936"/>
            <a:ext cx="2072579" cy="73152"/>
          </a:xfrm>
          <a:prstGeom prst="rect">
            <a:avLst/>
          </a:prstGeom>
          <a:solidFill>
            <a:srgbClr val="DCDCE2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45" name="Shape 45"/>
          <p:cNvSpPr txBox="1"/>
          <p:nvPr/>
        </p:nvSpPr>
        <p:spPr>
          <a:xfrm>
            <a:off x="7479609" y="1975104"/>
            <a:ext cx="17433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D1D1F"/>
                </a:solidFill>
                <a:latin typeface="Inter"/>
                <a:cs typeface="Inter"/>
              </a:rPr>
              <a:t>Q3 2027</a:t>
            </a:r>
          </a:p>
        </p:txBody>
      </p:sp>
      <p:sp>
        <p:nvSpPr>
          <p:cNvPr id="46" name="Shape 46"/>
          <p:cNvSpPr/>
          <p:nvPr/>
        </p:nvSpPr>
        <p:spPr>
          <a:xfrm>
            <a:off x="7479609" y="2688336"/>
            <a:ext cx="64008" cy="6400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47" name="Shape 47"/>
          <p:cNvSpPr txBox="1"/>
          <p:nvPr/>
        </p:nvSpPr>
        <p:spPr>
          <a:xfrm>
            <a:off x="7607625" y="2633472"/>
            <a:ext cx="1670243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20" b="0" i="0">
                <a:solidFill>
                  <a:srgbClr val="6E6E73"/>
                </a:solidFill>
                <a:latin typeface="Inter"/>
                <a:cs typeface="Inter"/>
              </a:rPr>
              <a:t>Потоковая запись</a:t>
            </a:r>
          </a:p>
        </p:txBody>
      </p:sp>
      <p:sp>
        <p:nvSpPr>
          <p:cNvPr id="48" name="Shape 48"/>
          <p:cNvSpPr/>
          <p:nvPr/>
        </p:nvSpPr>
        <p:spPr>
          <a:xfrm>
            <a:off x="7479609" y="3035808"/>
            <a:ext cx="64008" cy="6400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49" name="Shape 49"/>
          <p:cNvSpPr txBox="1"/>
          <p:nvPr/>
        </p:nvSpPr>
        <p:spPr>
          <a:xfrm>
            <a:off x="7607625" y="2980944"/>
            <a:ext cx="1670243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20" b="0" i="0">
                <a:solidFill>
                  <a:srgbClr val="6E6E73"/>
                </a:solidFill>
                <a:latin typeface="Inter"/>
                <a:cs typeface="Inter"/>
              </a:rPr>
              <a:t>iOS-компаньон</a:t>
            </a:r>
          </a:p>
        </p:txBody>
      </p:sp>
      <p:sp>
        <p:nvSpPr>
          <p:cNvPr id="50" name="Shape 50"/>
          <p:cNvSpPr/>
          <p:nvPr/>
        </p:nvSpPr>
        <p:spPr>
          <a:xfrm>
            <a:off x="7479609" y="3383280"/>
            <a:ext cx="64008" cy="6400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51" name="Shape 51"/>
          <p:cNvSpPr txBox="1"/>
          <p:nvPr/>
        </p:nvSpPr>
        <p:spPr>
          <a:xfrm>
            <a:off x="7607625" y="3328416"/>
            <a:ext cx="1670243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20" b="0" i="0">
                <a:solidFill>
                  <a:srgbClr val="6E6E73"/>
                </a:solidFill>
                <a:latin typeface="Inter"/>
                <a:cs typeface="Inter"/>
              </a:rPr>
              <a:t>Версия для Windows</a:t>
            </a:r>
          </a:p>
        </p:txBody>
      </p:sp>
      <p:sp>
        <p:nvSpPr>
          <p:cNvPr id="52" name="Shape 52"/>
          <p:cNvSpPr/>
          <p:nvPr/>
        </p:nvSpPr>
        <p:spPr>
          <a:xfrm>
            <a:off x="7479609" y="3730752"/>
            <a:ext cx="64008" cy="6400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53" name="Shape 53"/>
          <p:cNvSpPr txBox="1"/>
          <p:nvPr/>
        </p:nvSpPr>
        <p:spPr>
          <a:xfrm>
            <a:off x="7607625" y="3675888"/>
            <a:ext cx="1670243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20" b="0" i="0">
                <a:solidFill>
                  <a:srgbClr val="6E6E73"/>
                </a:solidFill>
                <a:latin typeface="Inter"/>
                <a:cs typeface="Inter"/>
              </a:rPr>
              <a:t>Публичный API</a:t>
            </a:r>
          </a:p>
        </p:txBody>
      </p:sp>
      <p:sp>
        <p:nvSpPr>
          <p:cNvPr id="54" name="Shape 54"/>
          <p:cNvSpPr/>
          <p:nvPr/>
        </p:nvSpPr>
        <p:spPr>
          <a:xfrm>
            <a:off x="9570476" y="1773936"/>
            <a:ext cx="2072579" cy="24505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55" name="Shape 55"/>
          <p:cNvSpPr/>
          <p:nvPr/>
        </p:nvSpPr>
        <p:spPr>
          <a:xfrm>
            <a:off x="9570476" y="1773936"/>
            <a:ext cx="2072579" cy="73152"/>
          </a:xfrm>
          <a:prstGeom prst="rect">
            <a:avLst/>
          </a:prstGeom>
          <a:solidFill>
            <a:srgbClr val="DCDCE2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56" name="Shape 56"/>
          <p:cNvSpPr txBox="1"/>
          <p:nvPr/>
        </p:nvSpPr>
        <p:spPr>
          <a:xfrm>
            <a:off x="9735068" y="1975104"/>
            <a:ext cx="17433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D1D1F"/>
                </a:solidFill>
                <a:latin typeface="Inter"/>
                <a:cs typeface="Inter"/>
              </a:rPr>
              <a:t>Q4 2027</a:t>
            </a:r>
          </a:p>
        </p:txBody>
      </p:sp>
      <p:sp>
        <p:nvSpPr>
          <p:cNvPr id="57" name="Shape 57"/>
          <p:cNvSpPr/>
          <p:nvPr/>
        </p:nvSpPr>
        <p:spPr>
          <a:xfrm>
            <a:off x="9735068" y="2688336"/>
            <a:ext cx="64008" cy="6400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58" name="Shape 58"/>
          <p:cNvSpPr txBox="1"/>
          <p:nvPr/>
        </p:nvSpPr>
        <p:spPr>
          <a:xfrm>
            <a:off x="9863084" y="2633472"/>
            <a:ext cx="1670243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20" b="0" i="0">
                <a:solidFill>
                  <a:srgbClr val="6E6E73"/>
                </a:solidFill>
                <a:latin typeface="Inter"/>
                <a:cs typeface="Inter"/>
              </a:rPr>
              <a:t>Админ-панель и SSO</a:t>
            </a:r>
          </a:p>
        </p:txBody>
      </p:sp>
      <p:sp>
        <p:nvSpPr>
          <p:cNvPr id="59" name="Shape 59"/>
          <p:cNvSpPr/>
          <p:nvPr/>
        </p:nvSpPr>
        <p:spPr>
          <a:xfrm>
            <a:off x="9735068" y="3035808"/>
            <a:ext cx="64008" cy="6400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60" name="Shape 60"/>
          <p:cNvSpPr txBox="1"/>
          <p:nvPr/>
        </p:nvSpPr>
        <p:spPr>
          <a:xfrm>
            <a:off x="9863084" y="2980944"/>
            <a:ext cx="1670243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20" b="0" i="0">
                <a:solidFill>
                  <a:srgbClr val="6E6E73"/>
                </a:solidFill>
                <a:latin typeface="Inter"/>
                <a:cs typeface="Inter"/>
              </a:rPr>
              <a:t>Общие словари</a:t>
            </a:r>
          </a:p>
        </p:txBody>
      </p:sp>
      <p:sp>
        <p:nvSpPr>
          <p:cNvPr id="61" name="Shape 61"/>
          <p:cNvSpPr/>
          <p:nvPr/>
        </p:nvSpPr>
        <p:spPr>
          <a:xfrm>
            <a:off x="9735068" y="3383280"/>
            <a:ext cx="64008" cy="6400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62" name="Shape 62"/>
          <p:cNvSpPr txBox="1"/>
          <p:nvPr/>
        </p:nvSpPr>
        <p:spPr>
          <a:xfrm>
            <a:off x="9863084" y="3328416"/>
            <a:ext cx="1670243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20" b="0" i="0">
                <a:solidFill>
                  <a:srgbClr val="6E6E73"/>
                </a:solidFill>
                <a:latin typeface="Inter"/>
                <a:cs typeface="Inter"/>
              </a:rPr>
              <a:t>Развёртывание on-prem</a:t>
            </a:r>
          </a:p>
        </p:txBody>
      </p:sp>
      <p:sp>
        <p:nvSpPr>
          <p:cNvPr id="63" name="Shape 63"/>
          <p:cNvSpPr/>
          <p:nvPr/>
        </p:nvSpPr>
        <p:spPr>
          <a:xfrm>
            <a:off x="9735068" y="3730752"/>
            <a:ext cx="64008" cy="6400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64" name="Shape 64"/>
          <p:cNvSpPr txBox="1"/>
          <p:nvPr/>
        </p:nvSpPr>
        <p:spPr>
          <a:xfrm>
            <a:off x="9863084" y="3675888"/>
            <a:ext cx="1670243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20" b="0" i="0">
                <a:solidFill>
                  <a:srgbClr val="6E6E73"/>
                </a:solidFill>
                <a:latin typeface="Inter"/>
                <a:cs typeface="Inter"/>
              </a:rPr>
              <a:t>Аудит безопасности</a:t>
            </a:r>
          </a:p>
        </p:txBody>
      </p:sp>
      <p:sp>
        <p:nvSpPr>
          <p:cNvPr id="65" name="Shape 65"/>
          <p:cNvSpPr/>
          <p:nvPr/>
        </p:nvSpPr>
        <p:spPr>
          <a:xfrm>
            <a:off x="548640" y="4407408"/>
            <a:ext cx="11094415" cy="1536192"/>
          </a:xfrm>
          <a:prstGeom prst="roundRect">
            <a:avLst>
              <a:gd name="adj" fmla="val 7000"/>
            </a:avLst>
          </a:prstGeom>
          <a:solidFill>
            <a:srgbClr val="ECECF1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66" name="Shape 66"/>
          <p:cNvSpPr txBox="1"/>
          <p:nvPr/>
        </p:nvSpPr>
        <p:spPr>
          <a:xfrm>
            <a:off x="786384" y="4572000"/>
            <a:ext cx="1061892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6E6E73"/>
                </a:solidFill>
                <a:latin typeface="Inter"/>
                <a:cs typeface="Inter"/>
              </a:rPr>
              <a:t>ПОЧЕМУ ПЛАН РЕАЛИСТИЧЕН</a:t>
            </a:r>
          </a:p>
        </p:txBody>
      </p:sp>
      <p:sp>
        <p:nvSpPr>
          <p:cNvPr id="67" name="Shape 67"/>
          <p:cNvSpPr txBox="1"/>
          <p:nvPr/>
        </p:nvSpPr>
        <p:spPr>
          <a:xfrm>
            <a:off x="786384" y="4846320"/>
            <a:ext cx="164592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950" b="1" i="0">
                <a:solidFill>
                  <a:srgbClr val="0071E3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68" name="Shape 68"/>
          <p:cNvSpPr txBox="1"/>
          <p:nvPr/>
        </p:nvSpPr>
        <p:spPr>
          <a:xfrm>
            <a:off x="969264" y="4846320"/>
            <a:ext cx="2252395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50" b="1" i="0">
                <a:solidFill>
                  <a:srgbClr val="1D1D1F"/>
                </a:solidFill>
                <a:latin typeface="Inter"/>
                <a:cs typeface="Inter"/>
              </a:rPr>
              <a:t>Продукт уже работает. </a:t>
            </a:r>
            <a:r>
              <a:rPr sz="850" b="0" i="0">
                <a:solidFill>
                  <a:srgbClr val="6E6E73"/>
                </a:solidFill>
                <a:latin typeface="Inter"/>
                <a:cs typeface="Inter"/>
              </a:rPr>
              <a:t>Ядро и интерфейс выпущены — предстоит развивать, а не начинать.</a:t>
            </a:r>
          </a:p>
        </p:txBody>
      </p:sp>
      <p:sp>
        <p:nvSpPr>
          <p:cNvPr id="69" name="Shape 69"/>
          <p:cNvSpPr txBox="1"/>
          <p:nvPr/>
        </p:nvSpPr>
        <p:spPr>
          <a:xfrm>
            <a:off x="3514267" y="4846320"/>
            <a:ext cx="164592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950" b="1" i="0">
                <a:solidFill>
                  <a:srgbClr val="0071E3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70" name="Shape 70"/>
          <p:cNvSpPr txBox="1"/>
          <p:nvPr/>
        </p:nvSpPr>
        <p:spPr>
          <a:xfrm>
            <a:off x="3697147" y="4846320"/>
            <a:ext cx="2252395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50" b="1" i="0">
                <a:solidFill>
                  <a:srgbClr val="1D1D1F"/>
                </a:solidFill>
                <a:latin typeface="Inter"/>
                <a:cs typeface="Inter"/>
              </a:rPr>
              <a:t>Нулевая инфраструктура. </a:t>
            </a:r>
            <a:r>
              <a:rPr sz="850" b="0" i="0">
                <a:solidFill>
                  <a:srgbClr val="6E6E73"/>
                </a:solidFill>
                <a:latin typeface="Inter"/>
                <a:cs typeface="Inter"/>
              </a:rPr>
              <a:t>Движки на бесплатных тарифах, платить за серверы не нужно.</a:t>
            </a:r>
          </a:p>
        </p:txBody>
      </p:sp>
      <p:sp>
        <p:nvSpPr>
          <p:cNvPr id="71" name="Shape 71"/>
          <p:cNvSpPr txBox="1"/>
          <p:nvPr/>
        </p:nvSpPr>
        <p:spPr>
          <a:xfrm>
            <a:off x="6242150" y="4846320"/>
            <a:ext cx="164592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950" b="1" i="0">
                <a:solidFill>
                  <a:srgbClr val="0071E3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72" name="Shape 72"/>
          <p:cNvSpPr txBox="1"/>
          <p:nvPr/>
        </p:nvSpPr>
        <p:spPr>
          <a:xfrm>
            <a:off x="6425030" y="4846320"/>
            <a:ext cx="2252395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50" b="1" i="0">
                <a:solidFill>
                  <a:srgbClr val="1D1D1F"/>
                </a:solidFill>
                <a:latin typeface="Inter"/>
                <a:cs typeface="Inter"/>
              </a:rPr>
              <a:t>Один разработчик, весь стек. </a:t>
            </a:r>
            <a:r>
              <a:rPr sz="850" b="0" i="0">
                <a:solidFill>
                  <a:srgbClr val="6E6E73"/>
                </a:solidFill>
                <a:latin typeface="Inter"/>
                <a:cs typeface="Inter"/>
              </a:rPr>
              <a:t>Дизайн, код, сборки и релизы — в одних руках.</a:t>
            </a:r>
          </a:p>
        </p:txBody>
      </p:sp>
      <p:sp>
        <p:nvSpPr>
          <p:cNvPr id="73" name="Shape 73"/>
          <p:cNvSpPr txBox="1"/>
          <p:nvPr/>
        </p:nvSpPr>
        <p:spPr>
          <a:xfrm>
            <a:off x="8970033" y="4846320"/>
            <a:ext cx="164592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950" b="1" i="0">
                <a:solidFill>
                  <a:srgbClr val="0071E3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74" name="Shape 74"/>
          <p:cNvSpPr txBox="1"/>
          <p:nvPr/>
        </p:nvSpPr>
        <p:spPr>
          <a:xfrm>
            <a:off x="9152913" y="4846320"/>
            <a:ext cx="2252395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50" b="1" i="0">
                <a:solidFill>
                  <a:srgbClr val="1D1D1F"/>
                </a:solidFill>
                <a:latin typeface="Inter"/>
                <a:cs typeface="Inter"/>
              </a:rPr>
              <a:t>Финансирование под контролем. </a:t>
            </a:r>
            <a:r>
              <a:rPr sz="850" b="0" i="0">
                <a:solidFill>
                  <a:srgbClr val="6E6E73"/>
                </a:solidFill>
                <a:latin typeface="Inter"/>
                <a:cs typeface="Inter"/>
              </a:rPr>
              <a:t>Грант GitHub покрывает смету — инвестиции не нужны.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4" name="Shape 4"/>
          <p:cNvSpPr/>
          <p:nvPr/>
        </p:nvSpPr>
        <p:spPr>
          <a:xfrm>
            <a:off x="11167567" y="310896"/>
            <a:ext cx="47548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6E6E73"/>
                </a:solidFill>
                <a:latin typeface="JetBrains Mono"/>
                <a:cs typeface="JetBrains Mono"/>
              </a:rPr>
              <a:t>06/09</a:t>
            </a:r>
          </a:p>
        </p:txBody>
      </p:sp>
      <p:sp>
        <p:nvSpPr>
          <p:cNvPr id="5" name="Shape 5"/>
          <p:cNvSpPr/>
          <p:nvPr/>
        </p:nvSpPr>
        <p:spPr>
          <a:xfrm>
            <a:off x="548640" y="329184"/>
            <a:ext cx="1792228" cy="274320"/>
          </a:xfrm>
          <a:prstGeom prst="roundRect">
            <a:avLst>
              <a:gd name="adj" fmla="val 50000"/>
            </a:avLst>
          </a:prstGeom>
          <a:solidFill>
            <a:srgbClr val="E8F2F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0071E3"/>
                </a:solidFill>
                <a:latin typeface="Inter"/>
                <a:cs typeface="Inter"/>
              </a:rPr>
              <a:t>ОЖИДАЕМЫЕ РЕЗУЛЬТАТЫ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48640" y="676656"/>
            <a:ext cx="9814255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4000"/>
              </a:lnSpc>
            </a:pPr>
            <a:r>
              <a:rPr sz="2800" b="1" i="0">
                <a:solidFill>
                  <a:srgbClr val="1D1D1F"/>
                </a:solidFill>
                <a:latin typeface="Inter"/>
                <a:cs typeface="Inter"/>
              </a:rPr>
              <a:t>Результаты </a:t>
            </a:r>
            <a:r>
              <a:rPr sz="2800" b="1" i="0">
                <a:solidFill>
                  <a:srgbClr val="0071E3"/>
                </a:solidFill>
                <a:latin typeface="Inter"/>
                <a:cs typeface="Inter"/>
              </a:rPr>
              <a:t>первого года</a:t>
            </a:r>
          </a:p>
        </p:txBody>
      </p:sp>
      <p:sp>
        <p:nvSpPr>
          <p:cNvPr id="7" name="Shape 7"/>
          <p:cNvSpPr/>
          <p:nvPr/>
        </p:nvSpPr>
        <p:spPr>
          <a:xfrm>
            <a:off x="548640" y="1481328"/>
            <a:ext cx="2636443" cy="2011680"/>
          </a:xfrm>
          <a:prstGeom prst="roundRect">
            <a:avLst>
              <a:gd name="adj" fmla="val 7000"/>
            </a:avLst>
          </a:prstGeom>
          <a:solidFill>
            <a:srgbClr val="1D1D1F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8" name="Shape 8"/>
          <p:cNvSpPr txBox="1"/>
          <p:nvPr/>
        </p:nvSpPr>
        <p:spPr>
          <a:xfrm>
            <a:off x="804672" y="1938528"/>
            <a:ext cx="2124379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Inter"/>
                <a:cs typeface="Inter"/>
              </a:rPr>
              <a:t>5 000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804672" y="2432304"/>
            <a:ext cx="2124379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Inter"/>
                <a:cs typeface="Inter"/>
              </a:rPr>
              <a:t>УСТАНОВОК ЗА 12 МЕСЯЦЕВ</a:t>
            </a:r>
          </a:p>
        </p:txBody>
      </p:sp>
      <p:sp>
        <p:nvSpPr>
          <p:cNvPr id="10" name="Shape 10"/>
          <p:cNvSpPr/>
          <p:nvPr/>
        </p:nvSpPr>
        <p:spPr>
          <a:xfrm>
            <a:off x="3367963" y="1481328"/>
            <a:ext cx="2636443" cy="2011680"/>
          </a:xfrm>
          <a:prstGeom prst="roundRect">
            <a:avLst>
              <a:gd name="adj" fmla="val 7000"/>
            </a:avLst>
          </a:prstGeom>
          <a:solidFill>
            <a:srgbClr val="0071E3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11" name="Shape 11"/>
          <p:cNvSpPr txBox="1"/>
          <p:nvPr/>
        </p:nvSpPr>
        <p:spPr>
          <a:xfrm>
            <a:off x="3623995" y="1938528"/>
            <a:ext cx="2124379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Inter"/>
                <a:cs typeface="Inter"/>
              </a:rPr>
              <a:t>300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3623995" y="2432304"/>
            <a:ext cx="2124379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Inter"/>
                <a:cs typeface="Inter"/>
              </a:rPr>
              <a:t>ПЛАТЯЩИХ ПОЛЬЗОВАТЕЛЕЙ PRO</a:t>
            </a:r>
          </a:p>
        </p:txBody>
      </p:sp>
      <p:sp>
        <p:nvSpPr>
          <p:cNvPr id="13" name="Shape 13"/>
          <p:cNvSpPr/>
          <p:nvPr/>
        </p:nvSpPr>
        <p:spPr>
          <a:xfrm>
            <a:off x="6187286" y="1481328"/>
            <a:ext cx="2636443" cy="2011680"/>
          </a:xfrm>
          <a:prstGeom prst="roundRect">
            <a:avLst>
              <a:gd name="adj" fmla="val 7000"/>
            </a:avLst>
          </a:prstGeom>
          <a:solidFill>
            <a:srgbClr val="E8F2FF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14" name="Shape 14"/>
          <p:cNvSpPr txBox="1"/>
          <p:nvPr/>
        </p:nvSpPr>
        <p:spPr>
          <a:xfrm>
            <a:off x="6443318" y="1938528"/>
            <a:ext cx="2124379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071E3"/>
                </a:solidFill>
                <a:latin typeface="Inter"/>
                <a:cs typeface="Inter"/>
              </a:rPr>
              <a:t>$10 000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6443318" y="2432304"/>
            <a:ext cx="2124379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6E6E73"/>
                </a:solidFill>
                <a:latin typeface="Inter"/>
                <a:cs typeface="Inter"/>
              </a:rPr>
              <a:t>ГРАНТ GITHUB ДЛЯ СТАРТАПОВ</a:t>
            </a:r>
          </a:p>
        </p:txBody>
      </p:sp>
      <p:sp>
        <p:nvSpPr>
          <p:cNvPr id="16" name="Shape 16"/>
          <p:cNvSpPr/>
          <p:nvPr/>
        </p:nvSpPr>
        <p:spPr>
          <a:xfrm>
            <a:off x="9006609" y="1481328"/>
            <a:ext cx="2636443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17" name="Shape 17"/>
          <p:cNvSpPr txBox="1"/>
          <p:nvPr/>
        </p:nvSpPr>
        <p:spPr>
          <a:xfrm>
            <a:off x="9262641" y="1938528"/>
            <a:ext cx="2124379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D1D1F"/>
                </a:solidFill>
                <a:latin typeface="Inter"/>
                <a:cs typeface="Inter"/>
              </a:rPr>
              <a:t>0,7 млн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9262641" y="2432304"/>
            <a:ext cx="2124379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6E6E73"/>
                </a:solidFill>
                <a:latin typeface="Inter"/>
                <a:cs typeface="Inter"/>
              </a:rPr>
              <a:t>СЭКОНОМЛЕННЫХ ЧЕЛОВЕКО-ЧАСОВ В ГОД</a:t>
            </a:r>
          </a:p>
        </p:txBody>
      </p:sp>
      <p:sp>
        <p:nvSpPr>
          <p:cNvPr id="19" name="Shape 19"/>
          <p:cNvSpPr/>
          <p:nvPr/>
        </p:nvSpPr>
        <p:spPr>
          <a:xfrm>
            <a:off x="548640" y="3712464"/>
            <a:ext cx="11094415" cy="2121408"/>
          </a:xfrm>
          <a:prstGeom prst="roundRect">
            <a:avLst>
              <a:gd name="adj" fmla="val 7000"/>
            </a:avLst>
          </a:prstGeom>
          <a:solidFill>
            <a:srgbClr val="ECECF1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20" name="Shape 20"/>
          <p:cNvSpPr txBox="1"/>
          <p:nvPr/>
        </p:nvSpPr>
        <p:spPr>
          <a:xfrm>
            <a:off x="786384" y="3877056"/>
            <a:ext cx="1061892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6E6E73"/>
                </a:solidFill>
                <a:latin typeface="Inter"/>
                <a:cs typeface="Inter"/>
              </a:rPr>
              <a:t>КАК МЫ ОЦЕНИВАЕМ УСПЕХ ПРОЕКТА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786384" y="4151376"/>
            <a:ext cx="164592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950" b="1" i="0">
                <a:solidFill>
                  <a:srgbClr val="0071E3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969264" y="4151376"/>
            <a:ext cx="4980279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50" b="1" i="0">
                <a:solidFill>
                  <a:srgbClr val="1D1D1F"/>
                </a:solidFill>
                <a:latin typeface="Inter"/>
                <a:cs typeface="Inter"/>
              </a:rPr>
              <a:t>Охват. </a:t>
            </a:r>
            <a:r>
              <a:rPr sz="850" b="0" i="0">
                <a:solidFill>
                  <a:srgbClr val="6E6E73"/>
                </a:solidFill>
                <a:latin typeface="Inter"/>
                <a:cs typeface="Inter"/>
              </a:rPr>
              <a:t>Не менее 5 000 активных установок за 12 месяцев и не менее 1 000 в первом квартале.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6242151" y="4151376"/>
            <a:ext cx="164592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950" b="1" i="0">
                <a:solidFill>
                  <a:srgbClr val="0071E3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6425031" y="4151376"/>
            <a:ext cx="4980279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50" b="1" i="0">
                <a:solidFill>
                  <a:srgbClr val="1D1D1F"/>
                </a:solidFill>
                <a:latin typeface="Inter"/>
                <a:cs typeface="Inter"/>
              </a:rPr>
              <a:t>Конверсия. </a:t>
            </a:r>
            <a:r>
              <a:rPr sz="850" b="0" i="0">
                <a:solidFill>
                  <a:srgbClr val="6E6E73"/>
                </a:solidFill>
                <a:latin typeface="Inter"/>
                <a:cs typeface="Inter"/>
              </a:rPr>
              <a:t>Переход Free → Pro не ниже 5 % — при сохранении полностью бесплатного ядра.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786384" y="4754880"/>
            <a:ext cx="164592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950" b="1" i="0">
                <a:solidFill>
                  <a:srgbClr val="0071E3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969264" y="4754880"/>
            <a:ext cx="4980279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50" b="1" i="0">
                <a:solidFill>
                  <a:srgbClr val="1D1D1F"/>
                </a:solidFill>
                <a:latin typeface="Inter"/>
                <a:cs typeface="Inter"/>
              </a:rPr>
              <a:t>Удержание. </a:t>
            </a:r>
            <a:r>
              <a:rPr sz="850" b="0" i="0">
                <a:solidFill>
                  <a:srgbClr val="6E6E73"/>
                </a:solidFill>
                <a:latin typeface="Inter"/>
                <a:cs typeface="Inter"/>
              </a:rPr>
              <a:t>Не менее 35 % пользователей возвращаются к продукту на 30-й день после установки.</a:t>
            </a:r>
          </a:p>
        </p:txBody>
      </p:sp>
      <p:sp>
        <p:nvSpPr>
          <p:cNvPr id="27" name="Shape 27"/>
          <p:cNvSpPr txBox="1"/>
          <p:nvPr/>
        </p:nvSpPr>
        <p:spPr>
          <a:xfrm>
            <a:off x="6242151" y="4754880"/>
            <a:ext cx="164592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950" b="1" i="0">
                <a:solidFill>
                  <a:srgbClr val="0071E3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28" name="Shape 28"/>
          <p:cNvSpPr txBox="1"/>
          <p:nvPr/>
        </p:nvSpPr>
        <p:spPr>
          <a:xfrm>
            <a:off x="6425031" y="4754880"/>
            <a:ext cx="4980279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50" b="1" i="0">
                <a:solidFill>
                  <a:srgbClr val="1D1D1F"/>
                </a:solidFill>
                <a:latin typeface="Inter"/>
                <a:cs typeface="Inter"/>
              </a:rPr>
              <a:t>Финансирование. </a:t>
            </a:r>
            <a:r>
              <a:rPr sz="850" b="0" i="0">
                <a:solidFill>
                  <a:srgbClr val="6E6E73"/>
                </a:solidFill>
                <a:latin typeface="Inter"/>
                <a:cs typeface="Inter"/>
              </a:rPr>
              <a:t>Грант GitHub для стартапов получен и покрывает смету на 6 месяцев — без внешних инвестиций.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4" name="Shape 4"/>
          <p:cNvSpPr/>
          <p:nvPr/>
        </p:nvSpPr>
        <p:spPr>
          <a:xfrm>
            <a:off x="11167567" y="310896"/>
            <a:ext cx="47548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6E6E73"/>
                </a:solidFill>
                <a:latin typeface="JetBrains Mono"/>
                <a:cs typeface="JetBrains Mono"/>
              </a:rPr>
              <a:t>07/09</a:t>
            </a:r>
          </a:p>
        </p:txBody>
      </p:sp>
      <p:sp>
        <p:nvSpPr>
          <p:cNvPr id="5" name="Shape 5"/>
          <p:cNvSpPr/>
          <p:nvPr/>
        </p:nvSpPr>
        <p:spPr>
          <a:xfrm>
            <a:off x="548640" y="329184"/>
            <a:ext cx="1492304" cy="274320"/>
          </a:xfrm>
          <a:prstGeom prst="roundRect">
            <a:avLst>
              <a:gd name="adj" fmla="val 50000"/>
            </a:avLst>
          </a:prstGeom>
          <a:solidFill>
            <a:srgbClr val="E8F2F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0071E3"/>
                </a:solidFill>
                <a:latin typeface="Inter"/>
                <a:cs typeface="Inter"/>
              </a:rPr>
              <a:t>ФИНАНСОВАЯ ЧАСТЬ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48640" y="676656"/>
            <a:ext cx="9814255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4000"/>
              </a:lnSpc>
            </a:pPr>
            <a:r>
              <a:rPr sz="2800" b="1" i="0">
                <a:solidFill>
                  <a:srgbClr val="1D1D1F"/>
                </a:solidFill>
                <a:latin typeface="Inter"/>
                <a:cs typeface="Inter"/>
              </a:rPr>
              <a:t>Что нужно и </a:t>
            </a:r>
            <a:r>
              <a:rPr sz="2800" b="1" i="0">
                <a:solidFill>
                  <a:srgbClr val="0071E3"/>
                </a:solidFill>
                <a:latin typeface="Inter"/>
                <a:cs typeface="Inter"/>
              </a:rPr>
              <a:t>откуда</a:t>
            </a:r>
          </a:p>
        </p:txBody>
      </p:sp>
      <p:sp>
        <p:nvSpPr>
          <p:cNvPr id="7" name="Shape 7"/>
          <p:cNvSpPr/>
          <p:nvPr/>
        </p:nvSpPr>
        <p:spPr>
          <a:xfrm>
            <a:off x="548640" y="1499616"/>
            <a:ext cx="4260255" cy="365760"/>
          </a:xfrm>
          <a:prstGeom prst="rect">
            <a:avLst/>
          </a:prstGeom>
          <a:solidFill>
            <a:srgbClr val="ECECF1"/>
          </a:solidFill>
          <a:ln>
            <a:noFill/>
          </a:ln>
        </p:spPr>
        <p:txBody>
          <a:bodyPr wrap="none" lIns="128016" rIns="128016" tIns="0" bIns="0" anchor="ctr"/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6E6E73"/>
                </a:solidFill>
                <a:latin typeface="Inter"/>
                <a:cs typeface="Inter"/>
              </a:rPr>
              <a:t>СМЕТА НА 6 МЕСЯЦЕВ</a:t>
            </a:r>
          </a:p>
        </p:txBody>
      </p:sp>
      <p:sp>
        <p:nvSpPr>
          <p:cNvPr id="8" name="Shape 8"/>
          <p:cNvSpPr/>
          <p:nvPr/>
        </p:nvSpPr>
        <p:spPr>
          <a:xfrm>
            <a:off x="4808895" y="1499616"/>
            <a:ext cx="2396394" cy="365760"/>
          </a:xfrm>
          <a:prstGeom prst="rect">
            <a:avLst/>
          </a:prstGeom>
          <a:solidFill>
            <a:srgbClr val="ECECF1"/>
          </a:solidFill>
          <a:ln>
            <a:noFill/>
          </a:ln>
        </p:spPr>
        <p:txBody>
          <a:bodyPr wrap="none" lIns="128016" rIns="128016" tIns="0" bIns="0" anchor="ctr"/>
          <a:lstStyle/>
          <a:p>
            <a:pPr algn="r">
              <a:lnSpc>
                <a:spcPct val="110000"/>
              </a:lnSpc>
            </a:pPr>
            <a:r>
              <a:rPr sz="800" b="1" i="0">
                <a:solidFill>
                  <a:srgbClr val="6E6E73"/>
                </a:solidFill>
                <a:latin typeface="Inter"/>
                <a:cs typeface="Inter"/>
              </a:rPr>
              <a:t>СУММА</a:t>
            </a:r>
          </a:p>
        </p:txBody>
      </p:sp>
      <p:sp>
        <p:nvSpPr>
          <p:cNvPr id="9" name="Shape 9"/>
          <p:cNvSpPr/>
          <p:nvPr/>
        </p:nvSpPr>
        <p:spPr>
          <a:xfrm>
            <a:off x="548640" y="1865376"/>
            <a:ext cx="4260255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8016" rIns="0" tIns="0" bIns="0" anchor="ctr"/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1D1D1F"/>
                </a:solidFill>
                <a:latin typeface="Inter"/>
                <a:cs typeface="Inter"/>
              </a:rPr>
              <a:t>Оплата труда основателя  (200 000 ₸ × 6 мес)</a:t>
            </a:r>
          </a:p>
        </p:txBody>
      </p:sp>
      <p:sp>
        <p:nvSpPr>
          <p:cNvPr id="10" name="Shape 10"/>
          <p:cNvSpPr/>
          <p:nvPr/>
        </p:nvSpPr>
        <p:spPr>
          <a:xfrm>
            <a:off x="4808895" y="1865376"/>
            <a:ext cx="239639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rIns="128016" tIns="0" bIns="0" anchor="ctr"/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1D1D1F"/>
                </a:solidFill>
                <a:latin typeface="JetBrains Mono"/>
                <a:cs typeface="JetBrains Mono"/>
              </a:rPr>
              <a:t>1 200 000 ₸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2322576"/>
            <a:ext cx="4260255" cy="457200"/>
          </a:xfrm>
          <a:prstGeom prst="rect">
            <a:avLst/>
          </a:prstGeom>
          <a:solidFill>
            <a:srgbClr val="ECECF1"/>
          </a:solidFill>
          <a:ln>
            <a:noFill/>
          </a:ln>
        </p:spPr>
        <p:txBody>
          <a:bodyPr wrap="square" lIns="128016" rIns="0" tIns="0" bIns="0" anchor="ctr"/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1D1D1F"/>
                </a:solidFill>
                <a:latin typeface="Inter"/>
                <a:cs typeface="Inter"/>
              </a:rPr>
              <a:t>AI-модели и облачные API  ($1 000 · уже оплачено)</a:t>
            </a:r>
          </a:p>
        </p:txBody>
      </p:sp>
      <p:sp>
        <p:nvSpPr>
          <p:cNvPr id="12" name="Shape 12"/>
          <p:cNvSpPr/>
          <p:nvPr/>
        </p:nvSpPr>
        <p:spPr>
          <a:xfrm>
            <a:off x="4808895" y="2322576"/>
            <a:ext cx="2396394" cy="457200"/>
          </a:xfrm>
          <a:prstGeom prst="rect">
            <a:avLst/>
          </a:prstGeom>
          <a:solidFill>
            <a:srgbClr val="ECECF1"/>
          </a:solidFill>
          <a:ln>
            <a:noFill/>
          </a:ln>
        </p:spPr>
        <p:txBody>
          <a:bodyPr wrap="none" lIns="0" rIns="128016" tIns="0" bIns="0" anchor="ctr"/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1D1D1F"/>
                </a:solidFill>
                <a:latin typeface="JetBrains Mono"/>
                <a:cs typeface="JetBrains Mono"/>
              </a:rPr>
              <a:t>530 000 ₸</a:t>
            </a:r>
          </a:p>
        </p:txBody>
      </p:sp>
      <p:sp>
        <p:nvSpPr>
          <p:cNvPr id="13" name="Shape 13"/>
          <p:cNvSpPr/>
          <p:nvPr/>
        </p:nvSpPr>
        <p:spPr>
          <a:xfrm>
            <a:off x="548640" y="2779776"/>
            <a:ext cx="4260255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8016" rIns="0" tIns="0" bIns="0" anchor="ctr"/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1D1D1F"/>
                </a:solidFill>
                <a:latin typeface="Inter"/>
                <a:cs typeface="Inter"/>
              </a:rPr>
              <a:t>Продвижение лендинга и первые установки</a:t>
            </a:r>
          </a:p>
        </p:txBody>
      </p:sp>
      <p:sp>
        <p:nvSpPr>
          <p:cNvPr id="14" name="Shape 14"/>
          <p:cNvSpPr/>
          <p:nvPr/>
        </p:nvSpPr>
        <p:spPr>
          <a:xfrm>
            <a:off x="4808895" y="2779776"/>
            <a:ext cx="239639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rIns="128016" tIns="0" bIns="0" anchor="ctr"/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1D1D1F"/>
                </a:solidFill>
                <a:latin typeface="JetBrains Mono"/>
                <a:cs typeface="JetBrains Mono"/>
              </a:rPr>
              <a:t>250 000 ₸</a:t>
            </a:r>
          </a:p>
        </p:txBody>
      </p:sp>
      <p:sp>
        <p:nvSpPr>
          <p:cNvPr id="15" name="Shape 15"/>
          <p:cNvSpPr/>
          <p:nvPr/>
        </p:nvSpPr>
        <p:spPr>
          <a:xfrm>
            <a:off x="548640" y="3236976"/>
            <a:ext cx="4260255" cy="457200"/>
          </a:xfrm>
          <a:prstGeom prst="rect">
            <a:avLst/>
          </a:prstGeom>
          <a:solidFill>
            <a:srgbClr val="ECECF1"/>
          </a:solidFill>
          <a:ln>
            <a:noFill/>
          </a:ln>
        </p:spPr>
        <p:txBody>
          <a:bodyPr wrap="square" lIns="128016" rIns="0" tIns="0" bIns="0" anchor="ctr"/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1D1D1F"/>
                </a:solidFill>
                <a:latin typeface="Inter"/>
                <a:cs typeface="Inter"/>
              </a:rPr>
              <a:t>Домен, хостинг и аналитика лендинга</a:t>
            </a:r>
          </a:p>
        </p:txBody>
      </p:sp>
      <p:sp>
        <p:nvSpPr>
          <p:cNvPr id="16" name="Shape 16"/>
          <p:cNvSpPr/>
          <p:nvPr/>
        </p:nvSpPr>
        <p:spPr>
          <a:xfrm>
            <a:off x="4808895" y="3236976"/>
            <a:ext cx="2396394" cy="457200"/>
          </a:xfrm>
          <a:prstGeom prst="rect">
            <a:avLst/>
          </a:prstGeom>
          <a:solidFill>
            <a:srgbClr val="ECECF1"/>
          </a:solidFill>
          <a:ln>
            <a:noFill/>
          </a:ln>
        </p:spPr>
        <p:txBody>
          <a:bodyPr wrap="none" lIns="0" rIns="128016" tIns="0" bIns="0" anchor="ctr"/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1D1D1F"/>
                </a:solidFill>
                <a:latin typeface="JetBrains Mono"/>
                <a:cs typeface="JetBrains Mono"/>
              </a:rPr>
              <a:t>60 000 ₸</a:t>
            </a:r>
          </a:p>
        </p:txBody>
      </p:sp>
      <p:sp>
        <p:nvSpPr>
          <p:cNvPr id="17" name="Shape 17"/>
          <p:cNvSpPr/>
          <p:nvPr/>
        </p:nvSpPr>
        <p:spPr>
          <a:xfrm>
            <a:off x="548640" y="3694176"/>
            <a:ext cx="4260255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8016" rIns="0" tIns="0" bIns="0" anchor="ctr"/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1D1D1F"/>
                </a:solidFill>
                <a:latin typeface="Inter"/>
                <a:cs typeface="Inter"/>
              </a:rPr>
              <a:t>Apple Developer Program  ($99 в год)</a:t>
            </a:r>
          </a:p>
        </p:txBody>
      </p:sp>
      <p:sp>
        <p:nvSpPr>
          <p:cNvPr id="18" name="Shape 18"/>
          <p:cNvSpPr/>
          <p:nvPr/>
        </p:nvSpPr>
        <p:spPr>
          <a:xfrm>
            <a:off x="4808895" y="3694176"/>
            <a:ext cx="239639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rIns="128016" tIns="0" bIns="0" anchor="ctr"/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1D1D1F"/>
                </a:solidFill>
                <a:latin typeface="JetBrains Mono"/>
                <a:cs typeface="JetBrains Mono"/>
              </a:rPr>
              <a:t>54 000 ₸</a:t>
            </a:r>
          </a:p>
        </p:txBody>
      </p:sp>
      <p:sp>
        <p:nvSpPr>
          <p:cNvPr id="19" name="Shape 19"/>
          <p:cNvSpPr/>
          <p:nvPr/>
        </p:nvSpPr>
        <p:spPr>
          <a:xfrm>
            <a:off x="548640" y="4151376"/>
            <a:ext cx="4260255" cy="457200"/>
          </a:xfrm>
          <a:prstGeom prst="rect">
            <a:avLst/>
          </a:prstGeom>
          <a:solidFill>
            <a:srgbClr val="ECECF1"/>
          </a:solidFill>
          <a:ln>
            <a:noFill/>
          </a:ln>
        </p:spPr>
        <p:txBody>
          <a:bodyPr wrap="square" lIns="128016" rIns="0" tIns="0" bIns="0" anchor="ctr"/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1D1D1F"/>
                </a:solidFill>
                <a:latin typeface="Inter"/>
                <a:cs typeface="Inter"/>
              </a:rPr>
              <a:t>Резерв на непредвиденные расходы</a:t>
            </a:r>
          </a:p>
        </p:txBody>
      </p:sp>
      <p:sp>
        <p:nvSpPr>
          <p:cNvPr id="20" name="Shape 20"/>
          <p:cNvSpPr/>
          <p:nvPr/>
        </p:nvSpPr>
        <p:spPr>
          <a:xfrm>
            <a:off x="4808895" y="4151376"/>
            <a:ext cx="2396394" cy="457200"/>
          </a:xfrm>
          <a:prstGeom prst="rect">
            <a:avLst/>
          </a:prstGeom>
          <a:solidFill>
            <a:srgbClr val="ECECF1"/>
          </a:solidFill>
          <a:ln>
            <a:noFill/>
          </a:ln>
        </p:spPr>
        <p:txBody>
          <a:bodyPr wrap="none" lIns="0" rIns="128016" tIns="0" bIns="0" anchor="ctr"/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1D1D1F"/>
                </a:solidFill>
                <a:latin typeface="JetBrains Mono"/>
                <a:cs typeface="JetBrains Mono"/>
              </a:rPr>
              <a:t>106 000 ₸</a:t>
            </a:r>
          </a:p>
        </p:txBody>
      </p:sp>
      <p:sp>
        <p:nvSpPr>
          <p:cNvPr id="21" name="Shape 21"/>
          <p:cNvSpPr/>
          <p:nvPr/>
        </p:nvSpPr>
        <p:spPr>
          <a:xfrm>
            <a:off x="548640" y="4608576"/>
            <a:ext cx="4260255" cy="36576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txBody>
          <a:bodyPr wrap="none" lIns="128016" rIns="128016" tIns="0" bIns="0" anchor="ctr"/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FFFFFF"/>
                </a:solidFill>
                <a:latin typeface="Inter"/>
                <a:cs typeface="Inter"/>
              </a:rPr>
              <a:t>ИТОГО НА 6 МЕСЯЦЕВ</a:t>
            </a:r>
          </a:p>
        </p:txBody>
      </p:sp>
      <p:sp>
        <p:nvSpPr>
          <p:cNvPr id="22" name="Shape 22"/>
          <p:cNvSpPr/>
          <p:nvPr/>
        </p:nvSpPr>
        <p:spPr>
          <a:xfrm>
            <a:off x="4808895" y="4608576"/>
            <a:ext cx="2396394" cy="36576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txBody>
          <a:bodyPr wrap="none" lIns="128016" rIns="128016" tIns="0" bIns="0" anchor="ctr"/>
          <a:lstStyle/>
          <a:p>
            <a:pPr algn="r">
              <a:lnSpc>
                <a:spcPct val="110000"/>
              </a:lnSpc>
            </a:pPr>
            <a:r>
              <a:rPr sz="950" b="1" i="0">
                <a:solidFill>
                  <a:srgbClr val="FFFFFF"/>
                </a:solidFill>
                <a:latin typeface="Inter"/>
                <a:cs typeface="Inter"/>
              </a:rPr>
              <a:t>2 200 000 ₸</a:t>
            </a:r>
          </a:p>
        </p:txBody>
      </p:sp>
      <p:sp>
        <p:nvSpPr>
          <p:cNvPr id="23" name="Shape 23"/>
          <p:cNvSpPr/>
          <p:nvPr/>
        </p:nvSpPr>
        <p:spPr>
          <a:xfrm>
            <a:off x="7406457" y="1499616"/>
            <a:ext cx="4236598" cy="1956816"/>
          </a:xfrm>
          <a:prstGeom prst="roundRect">
            <a:avLst>
              <a:gd name="adj" fmla="val 7000"/>
            </a:avLst>
          </a:prstGeom>
          <a:solidFill>
            <a:srgbClr val="0071E3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24" name="Shape 24"/>
          <p:cNvSpPr/>
          <p:nvPr/>
        </p:nvSpPr>
        <p:spPr>
          <a:xfrm>
            <a:off x="7662489" y="1719072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0071E3"/>
                </a:solidFill>
                <a:latin typeface="Inter"/>
                <a:cs typeface="Inter"/>
              </a:rPr>
              <a:t>$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7662489" y="2212848"/>
            <a:ext cx="372453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Inter"/>
                <a:cs typeface="Inter"/>
              </a:rPr>
              <a:t>ЗАПРАШИВАЕМАЯ СУММА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7662489" y="2450592"/>
            <a:ext cx="372453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Inter"/>
                <a:cs typeface="Inter"/>
              </a:rPr>
              <a:t>$10 000</a:t>
            </a:r>
          </a:p>
        </p:txBody>
      </p:sp>
      <p:sp>
        <p:nvSpPr>
          <p:cNvPr id="27" name="Shape 27"/>
          <p:cNvSpPr txBox="1"/>
          <p:nvPr/>
        </p:nvSpPr>
        <p:spPr>
          <a:xfrm>
            <a:off x="7662489" y="2907792"/>
            <a:ext cx="3724534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4000"/>
              </a:lnSpc>
            </a:pPr>
            <a:r>
              <a:rPr sz="830" b="0" i="0">
                <a:solidFill>
                  <a:srgbClr val="FFFFFF"/>
                </a:solidFill>
                <a:latin typeface="Inter"/>
                <a:cs typeface="Inter"/>
              </a:rPr>
              <a:t>Грант GitHub для стартапов — на AI-модели и вывод лендинга на рынок. Около 5 300 000 ₸: смета покрывается с запасом.</a:t>
            </a:r>
          </a:p>
        </p:txBody>
      </p:sp>
      <p:sp>
        <p:nvSpPr>
          <p:cNvPr id="28" name="Shape 28"/>
          <p:cNvSpPr/>
          <p:nvPr/>
        </p:nvSpPr>
        <p:spPr>
          <a:xfrm>
            <a:off x="7406457" y="3602736"/>
            <a:ext cx="4236598" cy="1956816"/>
          </a:xfrm>
          <a:prstGeom prst="roundRect">
            <a:avLst>
              <a:gd name="adj" fmla="val 7000"/>
            </a:avLst>
          </a:prstGeom>
          <a:solidFill>
            <a:srgbClr val="ECECF1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29" name="Shape 29"/>
          <p:cNvSpPr txBox="1"/>
          <p:nvPr/>
        </p:nvSpPr>
        <p:spPr>
          <a:xfrm>
            <a:off x="7644201" y="3822192"/>
            <a:ext cx="164592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900" b="1" i="0">
                <a:solidFill>
                  <a:srgbClr val="0071E3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7827081" y="3822192"/>
            <a:ext cx="357823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00" b="1" i="0">
                <a:solidFill>
                  <a:srgbClr val="1D1D1F"/>
                </a:solidFill>
                <a:latin typeface="Inter"/>
                <a:cs typeface="Inter"/>
              </a:rPr>
              <a:t>Инвестиции не привлекаем. </a:t>
            </a:r>
            <a:r>
              <a:rPr sz="800" b="0" i="0">
                <a:solidFill>
                  <a:srgbClr val="6E6E73"/>
                </a:solidFill>
                <a:latin typeface="Inter"/>
                <a:cs typeface="Inter"/>
              </a:rPr>
              <a:t>Призовой фонд PIZZA PITCH — 150 000 ₸; приз закрывает домен и продвижение.</a:t>
            </a:r>
          </a:p>
        </p:txBody>
      </p:sp>
      <p:sp>
        <p:nvSpPr>
          <p:cNvPr id="31" name="Shape 31"/>
          <p:cNvSpPr txBox="1"/>
          <p:nvPr/>
        </p:nvSpPr>
        <p:spPr>
          <a:xfrm>
            <a:off x="7644201" y="4370832"/>
            <a:ext cx="164592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900" b="1" i="0">
                <a:solidFill>
                  <a:srgbClr val="0071E3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32" name="Shape 32"/>
          <p:cNvSpPr txBox="1"/>
          <p:nvPr/>
        </p:nvSpPr>
        <p:spPr>
          <a:xfrm>
            <a:off x="7827081" y="4370832"/>
            <a:ext cx="357823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00" b="1" i="0">
                <a:solidFill>
                  <a:srgbClr val="1D1D1F"/>
                </a:solidFill>
                <a:latin typeface="Inter"/>
                <a:cs typeface="Inter"/>
              </a:rPr>
              <a:t>Уже вложено. </a:t>
            </a:r>
            <a:r>
              <a:rPr sz="800" b="0" i="0">
                <a:solidFill>
                  <a:srgbClr val="6E6E73"/>
                </a:solidFill>
                <a:latin typeface="Inter"/>
                <a:cs typeface="Inter"/>
              </a:rPr>
              <a:t>Продукт 2.0, открытый код и подписка на топовые AI-модели на 6 месяцев — $1 000.</a:t>
            </a:r>
          </a:p>
        </p:txBody>
      </p:sp>
      <p:sp>
        <p:nvSpPr>
          <p:cNvPr id="33" name="Shape 33"/>
          <p:cNvSpPr txBox="1"/>
          <p:nvPr/>
        </p:nvSpPr>
        <p:spPr>
          <a:xfrm>
            <a:off x="7644201" y="4919472"/>
            <a:ext cx="164592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900" b="1" i="0">
                <a:solidFill>
                  <a:srgbClr val="0071E3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34" name="Shape 34"/>
          <p:cNvSpPr txBox="1"/>
          <p:nvPr/>
        </p:nvSpPr>
        <p:spPr>
          <a:xfrm>
            <a:off x="7827081" y="4919472"/>
            <a:ext cx="357823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00" b="1" i="0">
                <a:solidFill>
                  <a:srgbClr val="1D1D1F"/>
                </a:solidFill>
                <a:latin typeface="Inter"/>
                <a:cs typeface="Inter"/>
              </a:rPr>
              <a:t>Возвратность. </a:t>
            </a:r>
            <a:r>
              <a:rPr sz="800" b="0" i="0">
                <a:solidFill>
                  <a:srgbClr val="6E6E73"/>
                </a:solidFill>
                <a:latin typeface="Inter"/>
                <a:cs typeface="Inter"/>
              </a:rPr>
              <a:t>WhisperFly Pro — с Q2 2027; себестоимость распознавания — центы на пользователя.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4" name="Shape 4"/>
          <p:cNvSpPr/>
          <p:nvPr/>
        </p:nvSpPr>
        <p:spPr>
          <a:xfrm>
            <a:off x="11167567" y="310896"/>
            <a:ext cx="47548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6E6E73"/>
                </a:solidFill>
                <a:latin typeface="JetBrains Mono"/>
                <a:cs typeface="JetBrains Mono"/>
              </a:rPr>
              <a:t>08/09</a:t>
            </a:r>
          </a:p>
        </p:txBody>
      </p:sp>
      <p:sp>
        <p:nvSpPr>
          <p:cNvPr id="5" name="Shape 5"/>
          <p:cNvSpPr/>
          <p:nvPr/>
        </p:nvSpPr>
        <p:spPr>
          <a:xfrm>
            <a:off x="548640" y="329184"/>
            <a:ext cx="817475" cy="274320"/>
          </a:xfrm>
          <a:prstGeom prst="roundRect">
            <a:avLst>
              <a:gd name="adj" fmla="val 50000"/>
            </a:avLst>
          </a:prstGeom>
          <a:solidFill>
            <a:srgbClr val="E8F2F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0071E3"/>
                </a:solidFill>
                <a:latin typeface="Inter"/>
                <a:cs typeface="Inter"/>
              </a:rPr>
              <a:t>КОМАНДА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48640" y="676656"/>
            <a:ext cx="9814255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4000"/>
              </a:lnSpc>
            </a:pPr>
            <a:r>
              <a:rPr sz="2800" b="1" i="0">
                <a:solidFill>
                  <a:srgbClr val="1D1D1F"/>
                </a:solidFill>
                <a:latin typeface="Inter"/>
                <a:cs typeface="Inter"/>
              </a:rPr>
              <a:t>Весь стек </a:t>
            </a:r>
            <a:r>
              <a:rPr sz="2800" b="1" i="0">
                <a:solidFill>
                  <a:srgbClr val="0071E3"/>
                </a:solidFill>
                <a:latin typeface="Inter"/>
                <a:cs typeface="Inter"/>
              </a:rPr>
              <a:t>в одних руках</a:t>
            </a:r>
          </a:p>
        </p:txBody>
      </p:sp>
      <p:sp>
        <p:nvSpPr>
          <p:cNvPr id="7" name="Shape 7"/>
          <p:cNvSpPr/>
          <p:nvPr/>
        </p:nvSpPr>
        <p:spPr>
          <a:xfrm>
            <a:off x="548640" y="1481328"/>
            <a:ext cx="3576218" cy="27980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8" name="Shape 8"/>
          <p:cNvSpPr/>
          <p:nvPr/>
        </p:nvSpPr>
        <p:spPr>
          <a:xfrm>
            <a:off x="1952701" y="1755648"/>
            <a:ext cx="768096" cy="768096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Inter"/>
                <a:cs typeface="Inter"/>
              </a:rPr>
              <a:t>ДБ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548640" y="2688336"/>
            <a:ext cx="3576218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D1D1F"/>
                </a:solidFill>
                <a:latin typeface="Inter"/>
                <a:cs typeface="Inter"/>
              </a:rPr>
              <a:t>Даниил Бурыкин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713232" y="3035808"/>
            <a:ext cx="324703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2000"/>
              </a:lnSpc>
            </a:pPr>
            <a:r>
              <a:rPr sz="750" b="1" i="0">
                <a:solidFill>
                  <a:srgbClr val="0071E3"/>
                </a:solidFill>
                <a:latin typeface="JetBrains Mono"/>
                <a:cs typeface="JetBrains Mono"/>
              </a:rPr>
              <a:t>ОСНОВАТЕЛЬ · РАЗРАБОТКА · ПРОДУКТ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786384" y="3419856"/>
            <a:ext cx="310073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6000"/>
              </a:lnSpc>
            </a:pPr>
            <a:r>
              <a:rPr sz="850" b="0" i="0">
                <a:solidFill>
                  <a:srgbClr val="6E6E73"/>
                </a:solidFill>
                <a:latin typeface="Inter"/>
                <a:cs typeface="Inter"/>
              </a:rPr>
              <a:t>Полный цикл: архитектура на Swift, интерфейс, конвейер распознавания, сборки, релизы и дистрибуция.</a:t>
            </a:r>
          </a:p>
        </p:txBody>
      </p:sp>
      <p:sp>
        <p:nvSpPr>
          <p:cNvPr id="12" name="Shape 12"/>
          <p:cNvSpPr/>
          <p:nvPr/>
        </p:nvSpPr>
        <p:spPr>
          <a:xfrm>
            <a:off x="4307738" y="1481328"/>
            <a:ext cx="3576218" cy="2798064"/>
          </a:xfrm>
          <a:prstGeom prst="roundRect">
            <a:avLst>
              <a:gd name="adj" fmla="val 7000"/>
            </a:avLst>
          </a:prstGeom>
          <a:solidFill>
            <a:srgbClr val="E8F2FF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13" name="Shape 13"/>
          <p:cNvSpPr/>
          <p:nvPr/>
        </p:nvSpPr>
        <p:spPr>
          <a:xfrm>
            <a:off x="5711799" y="1755648"/>
            <a:ext cx="768096" cy="768096"/>
          </a:xfrm>
          <a:prstGeom prst="ellipse">
            <a:avLst/>
          </a:prstGeom>
          <a:solidFill>
            <a:srgbClr val="1D1D1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&lt;&gt;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4307738" y="2688336"/>
            <a:ext cx="3576218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D1D1F"/>
                </a:solidFill>
                <a:latin typeface="Inter"/>
                <a:cs typeface="Inter"/>
              </a:rPr>
              <a:t>Открытое сообщество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4472330" y="3035808"/>
            <a:ext cx="324703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2000"/>
              </a:lnSpc>
            </a:pPr>
            <a:r>
              <a:rPr sz="750" b="1" i="0">
                <a:solidFill>
                  <a:srgbClr val="0071E3"/>
                </a:solidFill>
                <a:latin typeface="JetBrains Mono"/>
                <a:cs typeface="JetBrains Mono"/>
              </a:rPr>
              <a:t>КОНТРИБЬЮТОРЫ · ТЕСТИРОВАНИЕ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4545482" y="3419856"/>
            <a:ext cx="310073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6000"/>
              </a:lnSpc>
            </a:pPr>
            <a:r>
              <a:rPr sz="850" b="0" i="0">
                <a:solidFill>
                  <a:srgbClr val="6E6E73"/>
                </a:solidFill>
                <a:latin typeface="Inter"/>
                <a:cs typeface="Inter"/>
              </a:rPr>
              <a:t>Репозиторий на GitHub открыт: вклад в код, переводы интерфейса и сообщения об ошибках приветствуются.</a:t>
            </a:r>
          </a:p>
        </p:txBody>
      </p:sp>
      <p:sp>
        <p:nvSpPr>
          <p:cNvPr id="17" name="Shape 17"/>
          <p:cNvSpPr/>
          <p:nvPr/>
        </p:nvSpPr>
        <p:spPr>
          <a:xfrm>
            <a:off x="8066836" y="1481328"/>
            <a:ext cx="3576218" cy="27980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18" name="Shape 18"/>
          <p:cNvSpPr/>
          <p:nvPr/>
        </p:nvSpPr>
        <p:spPr>
          <a:xfrm>
            <a:off x="9470897" y="1755648"/>
            <a:ext cx="768096" cy="768096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Inter"/>
                <a:cs typeface="Inter"/>
              </a:rPr>
              <a:t>HK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8066836" y="2688336"/>
            <a:ext cx="3576218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D1D1F"/>
                </a:solidFill>
                <a:latin typeface="Inter"/>
                <a:cs typeface="Inter"/>
              </a:rPr>
              <a:t>hukopo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8231428" y="3035808"/>
            <a:ext cx="324703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2000"/>
              </a:lnSpc>
            </a:pPr>
            <a:r>
              <a:rPr sz="750" b="1" i="0">
                <a:solidFill>
                  <a:srgbClr val="0071E3"/>
                </a:solidFill>
                <a:latin typeface="JetBrains Mono"/>
                <a:cs typeface="JetBrains Mono"/>
              </a:rPr>
              <a:t>АВТОР ОСНОВЫ ПРОЕКТА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8304580" y="3419856"/>
            <a:ext cx="310073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6000"/>
              </a:lnSpc>
            </a:pPr>
            <a:r>
              <a:rPr sz="850" b="0" i="0">
                <a:solidFill>
                  <a:srgbClr val="6E6E73"/>
                </a:solidFill>
                <a:latin typeface="Inter"/>
                <a:cs typeface="Inter"/>
              </a:rPr>
              <a:t>Автор qwenwishper — проекта, из которого вырос WhisperFly; его код стал отправной точкой разработки.</a:t>
            </a:r>
          </a:p>
        </p:txBody>
      </p:sp>
      <p:sp>
        <p:nvSpPr>
          <p:cNvPr id="22" name="Shape 22"/>
          <p:cNvSpPr/>
          <p:nvPr/>
        </p:nvSpPr>
        <p:spPr>
          <a:xfrm>
            <a:off x="548640" y="4443984"/>
            <a:ext cx="11094415" cy="1517904"/>
          </a:xfrm>
          <a:prstGeom prst="roundRect">
            <a:avLst>
              <a:gd name="adj" fmla="val 7000"/>
            </a:avLst>
          </a:prstGeom>
          <a:solidFill>
            <a:srgbClr val="ECECF1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23" name="Shape 23"/>
          <p:cNvSpPr txBox="1"/>
          <p:nvPr/>
        </p:nvSpPr>
        <p:spPr>
          <a:xfrm>
            <a:off x="786384" y="4608576"/>
            <a:ext cx="1061892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6E6E73"/>
                </a:solidFill>
                <a:latin typeface="Inter"/>
                <a:cs typeface="Inter"/>
              </a:rPr>
              <a:t>РОЛЬ КАЖДОГО В РЕАЛИЗАЦИИ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786384" y="4882896"/>
            <a:ext cx="164592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950" b="1" i="0">
                <a:solidFill>
                  <a:srgbClr val="0071E3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969264" y="4882896"/>
            <a:ext cx="316169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50" b="1" i="0">
                <a:solidFill>
                  <a:srgbClr val="1D1D1F"/>
                </a:solidFill>
                <a:latin typeface="Inter"/>
                <a:cs typeface="Inter"/>
              </a:rPr>
              <a:t>Основатель </a:t>
            </a:r>
            <a:r>
              <a:rPr sz="850" b="0" i="0">
                <a:solidFill>
                  <a:srgbClr val="6E6E73"/>
                </a:solidFill>
                <a:latin typeface="Inter"/>
                <a:cs typeface="Inter"/>
              </a:rPr>
              <a:t>— ведёт разработку, отвечает за продукт, релизы и дистрибуцию, представляет проект.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4423562" y="4882896"/>
            <a:ext cx="164592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950" b="1" i="0">
                <a:solidFill>
                  <a:srgbClr val="0071E3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27" name="Shape 27"/>
          <p:cNvSpPr txBox="1"/>
          <p:nvPr/>
        </p:nvSpPr>
        <p:spPr>
          <a:xfrm>
            <a:off x="4606442" y="4882896"/>
            <a:ext cx="316169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50" b="1" i="0">
                <a:solidFill>
                  <a:srgbClr val="1D1D1F"/>
                </a:solidFill>
                <a:latin typeface="Inter"/>
                <a:cs typeface="Inter"/>
              </a:rPr>
              <a:t>Сообщество </a:t>
            </a:r>
            <a:r>
              <a:rPr sz="850" b="0" i="0">
                <a:solidFill>
                  <a:srgbClr val="6E6E73"/>
                </a:solidFill>
                <a:latin typeface="Inter"/>
                <a:cs typeface="Inter"/>
              </a:rPr>
              <a:t>— тестирование на разных конфигурациях, локализация интерфейса, обратная связь.</a:t>
            </a:r>
          </a:p>
        </p:txBody>
      </p:sp>
      <p:sp>
        <p:nvSpPr>
          <p:cNvPr id="28" name="Shape 28"/>
          <p:cNvSpPr txBox="1"/>
          <p:nvPr/>
        </p:nvSpPr>
        <p:spPr>
          <a:xfrm>
            <a:off x="8060740" y="4882896"/>
            <a:ext cx="164592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950" b="1" i="0">
                <a:solidFill>
                  <a:srgbClr val="0071E3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29" name="Shape 29"/>
          <p:cNvSpPr txBox="1"/>
          <p:nvPr/>
        </p:nvSpPr>
        <p:spPr>
          <a:xfrm>
            <a:off x="8243620" y="4882896"/>
            <a:ext cx="316169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50" b="1" i="0">
                <a:solidFill>
                  <a:srgbClr val="1D1D1F"/>
                </a:solidFill>
                <a:latin typeface="Inter"/>
                <a:cs typeface="Inter"/>
              </a:rPr>
              <a:t>Планируемые роли </a:t>
            </a:r>
            <a:r>
              <a:rPr sz="850" b="0" i="0">
                <a:solidFill>
                  <a:srgbClr val="6E6E73"/>
                </a:solidFill>
                <a:latin typeface="Inter"/>
                <a:cs typeface="Inter"/>
              </a:rPr>
              <a:t>— продуктовый маркетинг и продажи: найм запланирован на Q2 2027 года.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4" name="Shape 4"/>
          <p:cNvSpPr/>
          <p:nvPr/>
        </p:nvSpPr>
        <p:spPr>
          <a:xfrm>
            <a:off x="11167567" y="310896"/>
            <a:ext cx="47548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6E6E73"/>
                </a:solidFill>
                <a:latin typeface="JetBrains Mono"/>
                <a:cs typeface="JetBrains Mono"/>
              </a:rPr>
              <a:t>09/09</a:t>
            </a:r>
          </a:p>
        </p:txBody>
      </p:sp>
      <p:sp>
        <p:nvSpPr>
          <p:cNvPr id="5" name="Shape 5"/>
          <p:cNvSpPr/>
          <p:nvPr/>
        </p:nvSpPr>
        <p:spPr>
          <a:xfrm>
            <a:off x="548640" y="329184"/>
            <a:ext cx="1042418" cy="274320"/>
          </a:xfrm>
          <a:prstGeom prst="roundRect">
            <a:avLst>
              <a:gd name="adj" fmla="val 50000"/>
            </a:avLst>
          </a:prstGeom>
          <a:solidFill>
            <a:srgbClr val="E8F2F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0071E3"/>
                </a:solidFill>
                <a:latin typeface="Inter"/>
                <a:cs typeface="Inter"/>
              </a:rPr>
              <a:t>ЗАКЛЮЧЕНИЕ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48640" y="731520"/>
            <a:ext cx="10728655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4000"/>
              </a:lnSpc>
            </a:pPr>
            <a:r>
              <a:rPr sz="2600" b="1" i="0">
                <a:solidFill>
                  <a:srgbClr val="1D1D1F"/>
                </a:solidFill>
                <a:latin typeface="Inter"/>
                <a:cs typeface="Inter"/>
              </a:rPr>
              <a:t>Голос быстрее клавиатуры. Мы сделали это </a:t>
            </a:r>
            <a:r>
              <a:rPr sz="2600" b="1" i="0">
                <a:solidFill>
                  <a:srgbClr val="0071E3"/>
                </a:solidFill>
                <a:latin typeface="Inter"/>
                <a:cs typeface="Inter"/>
              </a:rPr>
              <a:t>бесплатным</a:t>
            </a:r>
            <a:r>
              <a:rPr sz="2600" b="1" i="0">
                <a:solidFill>
                  <a:srgbClr val="1D1D1F"/>
                </a:solidFill>
                <a:latin typeface="Inter"/>
                <a:cs typeface="Inter"/>
              </a:rPr>
              <a:t>.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548640" y="1664208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4000"/>
              </a:lnSpc>
            </a:pPr>
            <a:r>
              <a:rPr sz="1000" b="0" i="0">
                <a:solidFill>
                  <a:srgbClr val="6E6E73"/>
                </a:solidFill>
                <a:latin typeface="Inter"/>
                <a:cs typeface="Inter"/>
              </a:rPr>
              <a:t>WhisperFly уже работает и уже бесплатен: голосовой ввод в любом приложении macOS, собственный код, открытый исходный код и ноль затрат для пользователя. Осталось превратить готовый продукт в устойчивую платформу — и вернуть региону миллионы сэкономленных часов.</a:t>
            </a:r>
          </a:p>
        </p:txBody>
      </p:sp>
      <p:sp>
        <p:nvSpPr>
          <p:cNvPr id="8" name="Shape 8"/>
          <p:cNvSpPr/>
          <p:nvPr/>
        </p:nvSpPr>
        <p:spPr>
          <a:xfrm>
            <a:off x="548640" y="2505456"/>
            <a:ext cx="3576218" cy="19385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9" name="Shape 9"/>
          <p:cNvSpPr/>
          <p:nvPr/>
        </p:nvSpPr>
        <p:spPr>
          <a:xfrm>
            <a:off x="804672" y="2743200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E8F2F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0071E3"/>
                </a:solidFill>
                <a:latin typeface="Inter"/>
                <a:cs typeface="Inter"/>
              </a:rPr>
              <a:t>★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804672" y="3310128"/>
            <a:ext cx="3064154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D1D1F"/>
                </a:solidFill>
                <a:latin typeface="Inter"/>
                <a:cs typeface="Inter"/>
              </a:rPr>
              <a:t>Уже работает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804672" y="3694176"/>
            <a:ext cx="3064154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880" b="0" i="0">
                <a:solidFill>
                  <a:srgbClr val="6E6E73"/>
                </a:solidFill>
                <a:latin typeface="Inter"/>
                <a:cs typeface="Inter"/>
              </a:rPr>
              <a:t>Версия 2.0 выпущена: системный звук, транскрипция файлов, история и 11 языков интерфейса.</a:t>
            </a:r>
          </a:p>
        </p:txBody>
      </p:sp>
      <p:sp>
        <p:nvSpPr>
          <p:cNvPr id="12" name="Shape 12"/>
          <p:cNvSpPr/>
          <p:nvPr/>
        </p:nvSpPr>
        <p:spPr>
          <a:xfrm>
            <a:off x="4307738" y="2505456"/>
            <a:ext cx="3576218" cy="19385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13" name="Shape 13"/>
          <p:cNvSpPr/>
          <p:nvPr/>
        </p:nvSpPr>
        <p:spPr>
          <a:xfrm>
            <a:off x="4563770" y="2743200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E8F2F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0071E3"/>
                </a:solidFill>
                <a:latin typeface="Inter"/>
                <a:cs typeface="Inter"/>
              </a:rPr>
              <a:t>◆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4563770" y="3310128"/>
            <a:ext cx="3064154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D1D1F"/>
                </a:solidFill>
                <a:latin typeface="Inter"/>
                <a:cs typeface="Inter"/>
              </a:rPr>
              <a:t>Бесплатно и открыто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4563770" y="3694176"/>
            <a:ext cx="3064154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880" b="0" i="0">
                <a:solidFill>
                  <a:srgbClr val="6E6E73"/>
                </a:solidFill>
                <a:latin typeface="Inter"/>
                <a:cs typeface="Inter"/>
              </a:rPr>
              <a:t>Ни подписки, ни локальных моделей, ни закрытых исходников — продукт можно проверить и собрать самому.</a:t>
            </a:r>
          </a:p>
        </p:txBody>
      </p:sp>
      <p:sp>
        <p:nvSpPr>
          <p:cNvPr id="16" name="Shape 16"/>
          <p:cNvSpPr/>
          <p:nvPr/>
        </p:nvSpPr>
        <p:spPr>
          <a:xfrm>
            <a:off x="8066836" y="2505456"/>
            <a:ext cx="3576218" cy="19385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17" name="Shape 17"/>
          <p:cNvSpPr/>
          <p:nvPr/>
        </p:nvSpPr>
        <p:spPr>
          <a:xfrm>
            <a:off x="8322868" y="2743200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E8F2F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0071E3"/>
                </a:solidFill>
                <a:latin typeface="Inter"/>
                <a:cs typeface="Inter"/>
              </a:rPr>
              <a:t>▲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8322868" y="3310128"/>
            <a:ext cx="3064154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D1D1F"/>
                </a:solidFill>
                <a:latin typeface="Inter"/>
                <a:cs typeface="Inter"/>
              </a:rPr>
              <a:t>Эффект для региона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8322868" y="3694176"/>
            <a:ext cx="3064154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880" b="0" i="0">
                <a:solidFill>
                  <a:srgbClr val="6E6E73"/>
                </a:solidFill>
                <a:latin typeface="Inter"/>
                <a:cs typeface="Inter"/>
              </a:rPr>
              <a:t>0,7 млн человеко-часов в год, бесплатный доступ для образования и малого бизнеса, рабочие места в 2027 году.</a:t>
            </a:r>
          </a:p>
        </p:txBody>
      </p:sp>
      <p:sp>
        <p:nvSpPr>
          <p:cNvPr id="20" name="Shape 20"/>
          <p:cNvSpPr/>
          <p:nvPr/>
        </p:nvSpPr>
        <p:spPr>
          <a:xfrm>
            <a:off x="548640" y="4754880"/>
            <a:ext cx="1920240" cy="420624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FFFFFF"/>
                </a:solidFill>
                <a:latin typeface="Inter"/>
                <a:cs typeface="Inter"/>
              </a:rPr>
              <a:t>Сайт презентации</a:t>
            </a:r>
          </a:p>
        </p:txBody>
      </p:sp>
      <p:sp>
        <p:nvSpPr>
          <p:cNvPr id="21" name="Shape 21"/>
          <p:cNvSpPr/>
          <p:nvPr/>
        </p:nvSpPr>
        <p:spPr>
          <a:xfrm>
            <a:off x="2615184" y="4754880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1D1D1F"/>
                </a:solidFill>
                <a:latin typeface="Inter"/>
                <a:cs typeface="Inter"/>
              </a:rPr>
              <a:t>Скачать бесплатно</a:t>
            </a:r>
          </a:p>
        </p:txBody>
      </p:sp>
      <p:sp>
        <p:nvSpPr>
          <p:cNvPr id="22" name="Shape 22"/>
          <p:cNvSpPr/>
          <p:nvPr/>
        </p:nvSpPr>
        <p:spPr>
          <a:xfrm>
            <a:off x="4773168" y="4754880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none" lIns="0" rIns="0" tIns="0" bIns="0" anchor="ctr"/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1D1D1F"/>
                </a:solidFill>
                <a:latin typeface="Inter"/>
                <a:cs typeface="Inter"/>
              </a:rPr>
              <a:t>GitHub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548640" y="5449824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6E6E73"/>
                </a:solidFill>
                <a:latin typeface="JetBrains Mono"/>
                <a:cs typeface="JetBrains Mono"/>
              </a:rPr>
              <a:t>ОТКРЫТЫЙ ИСХОДНЫЙ КОД · MACOS 14+ · 11 ЯЗЫКОВ ИНТЕРФЕЙСА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