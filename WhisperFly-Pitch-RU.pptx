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55183" y="566928"/>
            <a:ext cx="1481328" cy="1481328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DFCF8"/>
                </a:solidFill>
                <a:latin typeface="Unbounded"/>
              </a:rPr>
              <a:t>WF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95728"/>
            <a:ext cx="108200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1C2447"/>
                </a:solidFill>
                <a:latin typeface="Unbounded"/>
              </a:rPr>
              <a:t>WHISPER</a:t>
            </a:r>
            <a:r>
              <a:rPr sz="6200" b="1" i="0">
                <a:solidFill>
                  <a:srgbClr val="1B4BA9"/>
                </a:solidFill>
                <a:latin typeface="Unbounded"/>
              </a:rPr>
              <a:t>FLY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950208"/>
            <a:ext cx="78025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A6180"/>
                </a:solidFill>
                <a:latin typeface="Rubik"/>
              </a:rPr>
              <a:t>Диктовка нажатием клавиши для macOS. Голос — в текст: мгновенно, в любом приложении и без единого рубля за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221" y="5138928"/>
            <a:ext cx="2110416" cy="329184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КОНКУРС СТАРТАПОВ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2365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MACOS 14+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809" y="5138928"/>
            <a:ext cx="98571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10 ЯЗЫКОВ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73253" y="5138928"/>
            <a:ext cx="121065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ОТКРЫТЫЙ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93637" y="5138928"/>
            <a:ext cx="535836" cy="329184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04241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ПРОБЛЕМА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Печатать —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 4 раза медленнее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, чем говорить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Мы думаем со скоростью речи, но вводим текст со скоростью клавиатуры. Разрыв между мыслью и набором съедает часы рабочего времени каждый день — и почти все существующие решения просят за это ежемесячную подписку.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набора на клавиатуре у офисного сотрудника.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4111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714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150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714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СЛОВ В МИНУТУ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714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Средняя скорость речи. Почти в четыре раза быстрее набора.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6430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2462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≈ 3 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2462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В ДЕНЬ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2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Уходит у человека, работа которого — текст: письма, заметки, документы, код.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51745" y="2130552"/>
            <a:ext cx="2554147" cy="24231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07777" y="2459736"/>
            <a:ext cx="204208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DFCF8"/>
                </a:solidFill>
                <a:latin typeface="Unbounded"/>
              </a:rPr>
              <a:t>$15–30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7777" y="3008376"/>
            <a:ext cx="20420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В МЕСЯЦ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7777" y="3611880"/>
            <a:ext cx="20420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Стоит подписка на существующие приложения для диктовки.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Нажал.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Сказал.</a:t>
            </a:r>
            <a:r>
              <a:rPr sz="3000" b="1" i="0">
                <a:solidFill>
                  <a:srgbClr val="1C2447"/>
                </a:solidFill>
                <a:latin typeface="Unbounded"/>
              </a:rPr>
              <a:t> Готово.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WhisperFly превращает речь в текст в любой программе macOS — по одному нажатию ⌘⇧Space. Без подписки, без загрузки моделей и без требований к железу.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2084832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048256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Одной клавишей.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Глобальное сочетание ⌘⇧Space запускает и останавливает запись из любого приложения.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145536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10896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Текст там, где курсор.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Вставка через Accessibility API, при отказе — надёжный откат на буфер обмена.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69664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Ноль локальных моделей.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Распознавание идёт в облаке: не нужен GPU и гигабайты загрузок.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266944"/>
            <a:ext cx="420624" cy="420624"/>
          </a:xfrm>
          <a:prstGeom prst="ellipse">
            <a:avLst/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3036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1C2447"/>
                </a:solidFill>
                <a:latin typeface="Rubik"/>
              </a:rPr>
              <a:t>Бесплатно. </a:t>
            </a:r>
            <a:r>
              <a:rPr sz="1050" b="0" i="0">
                <a:solidFill>
                  <a:srgbClr val="5A6180"/>
                </a:solidFill>
                <a:latin typeface="Rubik"/>
              </a:rPr>
              <a:t>Оба движка распознавания работают на бесплатных тарифах провайдеров.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96328" y="1810512"/>
            <a:ext cx="4309567" cy="39319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313432"/>
            <a:ext cx="3651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A9E56"/>
                </a:solidFill>
                <a:latin typeface="Unbounded"/>
              </a:rPr>
              <a:t>⌘⇧Space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227832"/>
            <a:ext cx="3651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E5E1D4"/>
                </a:solidFill>
                <a:latin typeface="JetBrains Mono"/>
              </a:rPr>
              <a:t>ОДНО СОЧЕТАНИЕ НА ВСЁ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365119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Нажать — сказать — отпустить. Результат появляется в поле ввода за считанные секунды.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КАК ЭТО РАБОТАЕТ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Пять шагов за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517904"/>
            <a:ext cx="97228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5A6180"/>
                </a:solidFill>
                <a:latin typeface="Rubik"/>
              </a:rPr>
              <a:t>От нажатия клавиши до готового текста в поле ввода — один короткий конвейер.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AVFoundation пишет микрофон. ScreenCaptureKit — всё, что звучит на Mac.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49819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563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7563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КОНВЕРТАЦИЯ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7563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Аудио приводится к WAV 16 кГц — формату, который понимает движок.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13838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1582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1582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РАСПОЗНАВАНИЕ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1582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Groq Whisper Large V3 или Google Gemini 2.5 Flash. Более 100 языков.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7857" y="2221992"/>
            <a:ext cx="2164019" cy="3063240"/>
          </a:xfrm>
          <a:prstGeom prst="roundRect">
            <a:avLst>
              <a:gd name="adj" fmla="val 6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601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5601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ОБРАБОТКА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5601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Необязательная AI-переформулировка: грамматика, пунктуация, перевод.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41876" y="2221992"/>
            <a:ext cx="2164019" cy="3063240"/>
          </a:xfrm>
          <a:prstGeom prst="roundRect">
            <a:avLst>
              <a:gd name="adj" fmla="val 16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9620" y="2496312"/>
            <a:ext cx="16885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B4BA9"/>
                </a:solidFill>
                <a:latin typeface="JetBrains Mono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9620" y="2880360"/>
            <a:ext cx="16885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ВСТАВКА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79620" y="3703320"/>
            <a:ext cx="1688531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Готовый текст появляется прямо в активном поле ввода.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05332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Временные аудиофайлы удаляются сразу после распознавания. Результат попадает в историю, его можно скопировать или озвучить системным голосом.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ВОЗМОЖНОСТИ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Всё, что нужно для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голосового ввода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ИСТОЧНИКА ЗВУКА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Микрофон или системный звук — транскрибируйте созвоны и видео прямо с дорожки Mac.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5586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ДВА БЕСПЛАТНЫХ ДВИЖКА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5586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Groq Whisper Large V3 и Google Gemini 2.5 Flash через OpenRouter — оба на бесплатном тарифе.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9340" y="21396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ТРАНСКРИПЦИЯ ФАЙЛОВ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9340" y="27980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MP3, M4A, WAV, FLAC, MP4, MOV — результат сразу уходит в буфер обмена.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AI-ПЕРЕФОРМУЛИРОВКА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Чистка грамматики, расстановка пунктуации или перевод на английский — одним переключателем.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554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5586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ИСТОРИЯ ТРАНСКРИПЦИЙ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5586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Последние 100 результатов: просмотр, копирование и повторное открытие в отдельном окне.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3308" y="3959352"/>
            <a:ext cx="3472586" cy="1874519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9340" y="4197096"/>
            <a:ext cx="296052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50" b="1" i="0">
                <a:solidFill>
                  <a:srgbClr val="1C2447"/>
                </a:solidFill>
                <a:latin typeface="Unbounded"/>
              </a:rPr>
              <a:t>10 ЯЗЫКОВ ИНТЕРФЕЙСА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9340" y="4855464"/>
            <a:ext cx="296052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Русский, английский, немецкий, французский, испанский, японский, китайский, корейский, итальянский, хинди.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ТЕХНОЛОГИИ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Нативный стек,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без компромиссов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6541" y="1572768"/>
            <a:ext cx="81015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SwiftUI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7282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AppKit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46700" y="1572768"/>
            <a:ext cx="145206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ScreenCaptureKit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9348" y="157276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AVFoundation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6704" y="1572768"/>
            <a:ext cx="738834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Carbon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6122" y="1572768"/>
            <a:ext cx="881480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Groq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8186" y="1572768"/>
            <a:ext cx="1024126" cy="310896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OpenRouter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212848"/>
            <a:ext cx="6309360" cy="3611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ПЯТЬ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08152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09981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Конвейер, плавающая панель, HUD-окна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02735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3621023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Запись, конвертация, движки, хоткей, вставка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123942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14223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Протоколы и статусы конвейера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45149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663437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Настройки и хранилище истории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16635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2447"/>
                </a:solidFill>
                <a:latin typeface="Unbounded"/>
              </a:rPr>
              <a:t>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1846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SwiftUI-интерфейс и строка меню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96328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2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3 000+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2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СТРОК SWIFT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51695" y="2212848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89439" y="2596896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89439" y="3145536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ЛОКАЛИЗАЦИЙ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96328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34072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34072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СБОРКИ DMG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51695" y="4151376"/>
            <a:ext cx="2054199" cy="173736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89439" y="4535424"/>
            <a:ext cx="157871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0 ГБ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89439" y="5084064"/>
            <a:ext cx="15787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ЗАГРУЗОК МОДЕЛЕЙ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РЫНОК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Растущий рынок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голосовых интерфейсов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$5,2 млрд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TAM · ВЕСЬ РЫНОК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E5E1D4"/>
                </a:solidFill>
                <a:latin typeface="Rubik"/>
              </a:rPr>
              <a:t>Мировой рынок распознавания речи и ПО для диктовки.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554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3874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FDFCF8"/>
                </a:solidFill>
                <a:latin typeface="Unbounded"/>
              </a:rPr>
              <a:t>$780 млн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3874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SAM · НАШ СЕГМЕНТ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3874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Пользователи macOS, чья работа — постоянно вводить текст.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3308" y="1901952"/>
            <a:ext cx="3472586" cy="23317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7628" y="2249424"/>
            <a:ext cx="292394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C2447"/>
                </a:solidFill>
                <a:latin typeface="Unbounded"/>
              </a:rPr>
              <a:t>$12 млн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7628" y="2798064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SOM · ЦЕЛЬ ЗА 3 ГОДА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7628" y="3346704"/>
            <a:ext cx="292394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1C2447"/>
                </a:solidFill>
                <a:latin typeface="Rubik"/>
              </a:rPr>
              <a:t>Русскоязычный сегмент и малый бизнес — рынок, который мы можем занять.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736592"/>
            <a:ext cx="2093971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≈ 20 % в год — рост рынка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55" y="4736592"/>
            <a:ext cx="195132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100+ млн — активных Mac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2264" y="4736592"/>
            <a:ext cx="2307940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250 млн — носителей русского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0788" y="4736592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0 ₽ — порог входа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Оценка построена на публичных данных о рынке ASR и голосового ПО; SOM — целевая доля русскоязычного направления за три года.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52247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БИЗНЕС-МОДЕЛЬ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Бесплатное ядро.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Платная скорость.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FREE · 0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Всё ядро без ограничений: два движка, транскрипция файлов, история, 10 языков. Исходный код открыт.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FDFCF8"/>
                </a:solidFill>
                <a:latin typeface="Unbounded"/>
              </a:rPr>
              <a:t>PRO · 690 ₽/МЕС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FDFCF8"/>
                </a:solidFill>
                <a:latin typeface="Rubik"/>
              </a:rPr>
              <a:t>Приоритетные модели, безлимитный объём, пользовательский словарь, экспорт и ранний доступ к новым функциям.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01952"/>
            <a:ext cx="3472586" cy="246888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26771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350" b="1" i="0">
                <a:solidFill>
                  <a:srgbClr val="1C2447"/>
                </a:solidFill>
                <a:latin typeface="Unbounded"/>
              </a:rPr>
              <a:t>TEAM · ОТ 490 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72384"/>
            <a:ext cx="292394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За сотрудника в месяц: админ-панель, единый вход, общие словари и развёртывание внутри компании.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864608"/>
            <a:ext cx="1166772" cy="310896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Маржа &gt; 80 %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53156" y="4864608"/>
            <a:ext cx="3377785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Себестоимость распознавания — центы в месяц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31525" y="4864608"/>
            <a:ext cx="2450586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Привлечение через открытый код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2695" y="4864608"/>
            <a:ext cx="1523387" cy="310896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1C2447"/>
                </a:solidFill>
                <a:latin typeface="JetBrains Mono"/>
              </a:rPr>
              <a:t>Цель LTV/CAC &gt; 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797296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Монетизация — план на 2026 год. Бесплатное ядро и открытый исходный код остаются основой продукта: они и есть канал привлечения.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2002536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КОНКУРЕНТНАЯ СРЕДА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Бесплатно — и с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открытым кодом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1975104"/>
            <a:ext cx="324602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ПРОДУКТ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828" y="1975104"/>
            <a:ext cx="2055818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ЦЕНА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7646" y="1975104"/>
            <a:ext cx="1947617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СИСТЕМНЫЙ ЗВУК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5263" y="1975104"/>
            <a:ext cx="1623014" cy="548640"/>
          </a:xfrm>
          <a:prstGeom prst="rect">
            <a:avLst/>
          </a:prstGeom>
          <a:solidFill>
            <a:srgbClr val="1C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ФАЙЛЫ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8277" y="1975104"/>
            <a:ext cx="1947618" cy="548640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950" b="1">
                <a:solidFill>
                  <a:srgbClr val="FDFCF8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523744"/>
            <a:ext cx="324602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WhisperFly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828" y="2523744"/>
            <a:ext cx="20558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1">
                <a:solidFill>
                  <a:srgbClr val="1C2447"/>
                </a:solidFill>
                <a:latin typeface="Rubik"/>
              </a:rPr>
              <a:t>0 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7646" y="2523744"/>
            <a:ext cx="1947617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5263" y="2523744"/>
            <a:ext cx="1623014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8277" y="2523744"/>
            <a:ext cx="1947618" cy="676656"/>
          </a:xfrm>
          <a:prstGeom prst="rect">
            <a:avLst/>
          </a:prstGeom>
          <a:solidFill>
            <a:srgbClr val="DD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200400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Superwhisper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828" y="3200400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$8,99/мес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7646" y="3200400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5263" y="3200400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8277" y="3200400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77056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MacWhisper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828" y="3877056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€59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646" y="3877056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35263" y="3877056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1B4BA9"/>
                </a:solidFill>
                <a:latin typeface="Rubik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58277" y="3877056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553712"/>
            <a:ext cx="324602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Wispr Flow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828" y="4553712"/>
            <a:ext cx="20558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от $12/мес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7646" y="4553712"/>
            <a:ext cx="1947617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35263" y="4553712"/>
            <a:ext cx="1623014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8277" y="4553712"/>
            <a:ext cx="1947618" cy="676656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230368"/>
            <a:ext cx="324602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Apple «Диктовка»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828" y="5230368"/>
            <a:ext cx="20558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100" b="0">
                <a:solidFill>
                  <a:srgbClr val="1C2447"/>
                </a:solidFill>
                <a:latin typeface="Rubik"/>
              </a:rPr>
              <a:t>0 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7646" y="5230368"/>
            <a:ext cx="1947617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5263" y="5230368"/>
            <a:ext cx="1623014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58277" y="5230368"/>
            <a:ext cx="1947618" cy="676656"/>
          </a:xfrm>
          <a:prstGeom prst="rect">
            <a:avLst/>
          </a:prstGeom>
          <a:solidFill>
            <a:srgbClr val="E5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73152" tIns="0" bIns="0"/>
          <a:lstStyle/>
          <a:p>
            <a:pPr algn="ctr"/>
            <a:r>
              <a:rPr sz="1500" b="1">
                <a:solidFill>
                  <a:srgbClr val="5A6180"/>
                </a:solidFill>
                <a:latin typeface="Rubik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1975104"/>
            <a:ext cx="10820095" cy="3931920"/>
          </a:xfrm>
          <a:prstGeom prst="rect">
            <a:avLst/>
          </a:prstGeom>
          <a:noFill/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85216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Публичные тарифы и возможности продуктов на начало 2026 года. WhisperFly сочетает то, что конкуренты предлагают только по отдельности: нулевую цену, системный звук и открытый исходный код.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85039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ТРЕКШН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Готовый продукт,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не прототип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ТЕКУЩАЯ ВЕРСИЯ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111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885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885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СБОРКИ: APPLE SILICON, INTEL, УНИВЕРСАЛЬНАЯ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6430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4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C2447"/>
                </a:solidFill>
                <a:latin typeface="Unbounded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4174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1C2447"/>
                </a:solidFill>
                <a:latin typeface="JetBrains Mono"/>
              </a:rPr>
              <a:t>ЯЗЫКОВ ИНТЕРФЕЙСА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745" y="1856232"/>
            <a:ext cx="2554147" cy="1572768"/>
          </a:xfrm>
          <a:prstGeom prst="roundRect">
            <a:avLst>
              <a:gd name="adj" fmla="val 11000"/>
            </a:avLst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489" y="2167128"/>
            <a:ext cx="20786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DFCF8"/>
                </a:solidFill>
                <a:latin typeface="Unbounded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489" y="2715768"/>
            <a:ext cx="20786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1" i="0">
                <a:solidFill>
                  <a:srgbClr val="FDFCF8"/>
                </a:solidFill>
                <a:latin typeface="JetBrains Mono"/>
              </a:rPr>
              <a:t>КОММИТА В ОСНОВНОЙ ВЕТКЕ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657600"/>
            <a:ext cx="10820095" cy="2103120"/>
          </a:xfrm>
          <a:prstGeom prst="roundRect">
            <a:avLst>
              <a:gd name="adj" fmla="val 11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8408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Установка одной командой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через Homebrew или готовый DMG.</a:t>
            </a:r>
          </a:p>
        </p:txBody>
      </p:sp>
      <p:sp>
        <p:nvSpPr>
          <p:cNvPr id="33" name="Oval 32"/>
          <p:cNvSpPr/>
          <p:nvPr/>
        </p:nvSpPr>
        <p:spPr>
          <a:xfrm>
            <a:off x="6342735" y="4050792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0207" y="4023360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Совместимость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с macOS 14 (Sonoma) вплоть до macOS 26 (Tahoe).</a:t>
            </a:r>
          </a:p>
        </p:txBody>
      </p:sp>
      <p:sp>
        <p:nvSpPr>
          <p:cNvPr id="35" name="Oval 34"/>
          <p:cNvSpPr/>
          <p:nvPr/>
        </p:nvSpPr>
        <p:spPr>
          <a:xfrm>
            <a:off x="978408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25880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Три проблемы macOS 26 решены: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крэш панели, ложные отказы прав, тихая запись.</a:t>
            </a:r>
          </a:p>
        </p:txBody>
      </p:sp>
      <p:sp>
        <p:nvSpPr>
          <p:cNvPr id="37" name="Oval 36"/>
          <p:cNvSpPr/>
          <p:nvPr/>
        </p:nvSpPr>
        <p:spPr>
          <a:xfrm>
            <a:off x="6342735" y="4892040"/>
            <a:ext cx="201168" cy="201168"/>
          </a:xfrm>
          <a:prstGeom prst="ellipse">
            <a:avLst/>
          </a:prstGeom>
          <a:noFill/>
          <a:ln w="28575">
            <a:solidFill>
              <a:srgbClr val="1B4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864608"/>
            <a:ext cx="4559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1" i="0">
                <a:solidFill>
                  <a:srgbClr val="1C2447"/>
                </a:solidFill>
                <a:latin typeface="Rubik"/>
              </a:rPr>
              <a:t>Открытый исходный код </a:t>
            </a:r>
            <a:r>
              <a:rPr sz="1000" b="0" i="0">
                <a:solidFill>
                  <a:srgbClr val="5A6180"/>
                </a:solidFill>
                <a:latin typeface="Rubik"/>
              </a:rPr>
              <a:t>на GitHub — продукт можно проверить и собрать самому.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РОАДМАП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От приложения к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платформе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Q1 2026 · сейчас</a:t>
            </a:r>
          </a:p>
        </p:txBody>
      </p:sp>
      <p:sp>
        <p:nvSpPr>
          <p:cNvPr id="20" name="Oval 19"/>
          <p:cNvSpPr/>
          <p:nvPr/>
        </p:nvSpPr>
        <p:spPr>
          <a:xfrm>
            <a:off x="70408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Релиз 2.0: системный звук и файлы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История транскрипций</a:t>
            </a:r>
          </a:p>
        </p:txBody>
      </p:sp>
      <p:sp>
        <p:nvSpPr>
          <p:cNvPr id="24" name="Oval 23"/>
          <p:cNvSpPr/>
          <p:nvPr/>
        </p:nvSpPr>
        <p:spPr>
          <a:xfrm>
            <a:off x="70408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Совместимость с macOS 26</a:t>
            </a:r>
          </a:p>
        </p:txBody>
      </p:sp>
      <p:sp>
        <p:nvSpPr>
          <p:cNvPr id="26" name="Oval 25"/>
          <p:cNvSpPr/>
          <p:nvPr/>
        </p:nvSpPr>
        <p:spPr>
          <a:xfrm>
            <a:off x="70408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Сборки и Homebrew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111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111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Q2 2026</a:t>
            </a:r>
          </a:p>
        </p:txBody>
      </p:sp>
      <p:sp>
        <p:nvSpPr>
          <p:cNvPr id="30" name="Oval 29"/>
          <p:cNvSpPr/>
          <p:nvPr/>
        </p:nvSpPr>
        <p:spPr>
          <a:xfrm>
            <a:off x="345940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543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WhisperFly Pro и подписка</a:t>
            </a:r>
          </a:p>
        </p:txBody>
      </p:sp>
      <p:sp>
        <p:nvSpPr>
          <p:cNvPr id="32" name="Oval 31"/>
          <p:cNvSpPr/>
          <p:nvPr/>
        </p:nvSpPr>
        <p:spPr>
          <a:xfrm>
            <a:off x="345940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1543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Пользовательский словарь</a:t>
            </a:r>
          </a:p>
        </p:txBody>
      </p:sp>
      <p:sp>
        <p:nvSpPr>
          <p:cNvPr id="34" name="Oval 33"/>
          <p:cNvSpPr/>
          <p:nvPr/>
        </p:nvSpPr>
        <p:spPr>
          <a:xfrm>
            <a:off x="345940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1543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Оплата и лицензирование</a:t>
            </a:r>
          </a:p>
        </p:txBody>
      </p:sp>
      <p:sp>
        <p:nvSpPr>
          <p:cNvPr id="36" name="Oval 35"/>
          <p:cNvSpPr/>
          <p:nvPr/>
        </p:nvSpPr>
        <p:spPr>
          <a:xfrm>
            <a:off x="345940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543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Усиление команды: GTM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6430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6430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Q3 2026</a:t>
            </a:r>
          </a:p>
        </p:txBody>
      </p:sp>
      <p:sp>
        <p:nvSpPr>
          <p:cNvPr id="40" name="Oval 39"/>
          <p:cNvSpPr/>
          <p:nvPr/>
        </p:nvSpPr>
        <p:spPr>
          <a:xfrm>
            <a:off x="6214718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0750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Потоковая транскрипция</a:t>
            </a:r>
          </a:p>
        </p:txBody>
      </p:sp>
      <p:sp>
        <p:nvSpPr>
          <p:cNvPr id="42" name="Oval 41"/>
          <p:cNvSpPr/>
          <p:nvPr/>
        </p:nvSpPr>
        <p:spPr>
          <a:xfrm>
            <a:off x="6214718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0750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Компаньон для iOS</a:t>
            </a:r>
          </a:p>
        </p:txBody>
      </p:sp>
      <p:sp>
        <p:nvSpPr>
          <p:cNvPr id="44" name="Oval 43"/>
          <p:cNvSpPr/>
          <p:nvPr/>
        </p:nvSpPr>
        <p:spPr>
          <a:xfrm>
            <a:off x="6214718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0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Версия для Windows</a:t>
            </a:r>
          </a:p>
        </p:txBody>
      </p:sp>
      <p:sp>
        <p:nvSpPr>
          <p:cNvPr id="46" name="Oval 45"/>
          <p:cNvSpPr/>
          <p:nvPr/>
        </p:nvSpPr>
        <p:spPr>
          <a:xfrm>
            <a:off x="6214718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0750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Публичный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51745" y="1993392"/>
            <a:ext cx="2554147" cy="256032"/>
          </a:xfrm>
          <a:prstGeom prst="roundRect">
            <a:avLst>
              <a:gd name="adj" fmla="val 50000"/>
            </a:avLst>
          </a:prstGeom>
          <a:solidFill>
            <a:srgbClr val="E5E1D4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51745" y="2432304"/>
            <a:ext cx="25541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C2447"/>
                </a:solidFill>
                <a:latin typeface="Unbounded"/>
              </a:rPr>
              <a:t>Q4 2026</a:t>
            </a:r>
          </a:p>
        </p:txBody>
      </p:sp>
      <p:sp>
        <p:nvSpPr>
          <p:cNvPr id="50" name="Oval 49"/>
          <p:cNvSpPr/>
          <p:nvPr/>
        </p:nvSpPr>
        <p:spPr>
          <a:xfrm>
            <a:off x="8970033" y="301752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26065" y="295351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Админ-панель и единый вход</a:t>
            </a:r>
          </a:p>
        </p:txBody>
      </p:sp>
      <p:sp>
        <p:nvSpPr>
          <p:cNvPr id="52" name="Oval 51"/>
          <p:cNvSpPr/>
          <p:nvPr/>
        </p:nvSpPr>
        <p:spPr>
          <a:xfrm>
            <a:off x="8970033" y="374904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065" y="368503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Общие словари компании</a:t>
            </a:r>
          </a:p>
        </p:txBody>
      </p:sp>
      <p:sp>
        <p:nvSpPr>
          <p:cNvPr id="54" name="Oval 53"/>
          <p:cNvSpPr/>
          <p:nvPr/>
        </p:nvSpPr>
        <p:spPr>
          <a:xfrm>
            <a:off x="8970033" y="448056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6065" y="441655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Развёртывание on-prem</a:t>
            </a:r>
          </a:p>
        </p:txBody>
      </p:sp>
      <p:sp>
        <p:nvSpPr>
          <p:cNvPr id="56" name="Oval 55"/>
          <p:cNvSpPr/>
          <p:nvPr/>
        </p:nvSpPr>
        <p:spPr>
          <a:xfrm>
            <a:off x="8970033" y="5212080"/>
            <a:ext cx="118872" cy="118872"/>
          </a:xfrm>
          <a:prstGeom prst="ellipse">
            <a:avLst/>
          </a:prstGeom>
          <a:solidFill>
            <a:srgbClr val="FDFCF8"/>
          </a:solidFill>
          <a:ln w="158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26065" y="5148072"/>
            <a:ext cx="22798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Сертификация безопасности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КОМАНДА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Один разработчик.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Весь стек.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96313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dandysuper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ОСНОВАТЕЛЬ · РАЗРАБОТКА · ПРОДУКТ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Полный цикл: архитектура на Swift, интерфейс, дизайн, релизы и дистрибуция.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9554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A9E56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70067" y="2331720"/>
            <a:ext cx="1051560" cy="1051560"/>
          </a:xfrm>
          <a:prstGeom prst="ellipse">
            <a:avLst/>
          </a:prstGeom>
          <a:solidFill>
            <a:srgbClr val="1C2447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A9E56"/>
                </a:solidFill>
                <a:latin typeface="Unbounded"/>
              </a:rPr>
              <a:t>&lt;&gt;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9554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Открытый код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2434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1C2447"/>
                </a:solidFill>
                <a:latin typeface="JetBrains Mono"/>
              </a:rPr>
              <a:t>СООБЩЕСТВО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1C2447"/>
                </a:solidFill>
                <a:latin typeface="Rubik"/>
              </a:rPr>
              <a:t>Репозиторий на GitHub: код открыт, вклад и обратная связь приветствуются.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3308" y="1947672"/>
            <a:ext cx="3472586" cy="324612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43821" y="2331720"/>
            <a:ext cx="1051560" cy="1051560"/>
          </a:xfrm>
          <a:prstGeom prst="ellipse">
            <a:avLst/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DFCF8"/>
                </a:solidFill>
                <a:latin typeface="Unbounded"/>
              </a:rPr>
              <a:t>HK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3308" y="3593592"/>
            <a:ext cx="347258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C2447"/>
                </a:solidFill>
                <a:latin typeface="Unbounded"/>
              </a:rPr>
              <a:t>hukopo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6188" y="4032503"/>
            <a:ext cx="310682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50" b="1" i="0">
                <a:solidFill>
                  <a:srgbClr val="5A6180"/>
                </a:solidFill>
                <a:latin typeface="JetBrains Mono"/>
              </a:rPr>
              <a:t>АВТОР ОСНОВЫ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9340" y="4489704"/>
            <a:ext cx="296052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A6180"/>
                </a:solidFill>
                <a:latin typeface="Rubik"/>
              </a:rPr>
              <a:t>Автор проекта qwenwishper, из которого вырос WhisperFly.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5A6180"/>
                </a:solidFill>
                <a:latin typeface="Rubik"/>
              </a:rPr>
              <a:t>В планах — усиление команды: продуктовый маркетинг и продажи во втором квартале 2026 года.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33856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700784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67712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834640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3401568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968496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102352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669280"/>
            <a:ext cx="137160" cy="566928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236208"/>
            <a:ext cx="137160" cy="566928"/>
          </a:xfrm>
          <a:prstGeom prst="rect">
            <a:avLst/>
          </a:prstGeom>
          <a:solidFill>
            <a:srgbClr val="FA9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137160" cy="54864"/>
          </a:xfrm>
          <a:prstGeom prst="rect">
            <a:avLst/>
          </a:prstGeom>
          <a:solidFill>
            <a:srgbClr val="1B4B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0624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DFCF8"/>
                </a:solidFill>
                <a:latin typeface="JetBrains Mono"/>
              </a:rPr>
              <a:t>ЧТО МЫ ИЩЕМ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3000" b="1" i="0">
                <a:solidFill>
                  <a:srgbClr val="1C2447"/>
                </a:solidFill>
                <a:latin typeface="Unbounded"/>
              </a:rPr>
              <a:t>Помогите нам </a:t>
            </a:r>
            <a:r>
              <a:rPr sz="3000" b="1" i="0">
                <a:solidFill>
                  <a:srgbClr val="1B4BA9"/>
                </a:solidFill>
                <a:latin typeface="Unbounded"/>
              </a:rPr>
              <a:t>взлететь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ИНВЕСТИЦИИ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Посевной раунд для запуска Pro-версии и найма специалиста по выходу на рынок.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9554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МЕНТОРЫ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Опыт вывода инструментов для продуктивности на массовый рынок и в B2B.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3308" y="1947672"/>
            <a:ext cx="3472586" cy="2148840"/>
          </a:xfrm>
          <a:prstGeom prst="roundRect">
            <a:avLst>
              <a:gd name="adj" fmla="val 11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7628" y="2313432"/>
            <a:ext cx="292394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1" i="0">
                <a:solidFill>
                  <a:srgbClr val="1C2447"/>
                </a:solidFill>
                <a:latin typeface="Unbounded"/>
              </a:rPr>
              <a:t>ПАРТНЁРЫ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628" y="3026664"/>
            <a:ext cx="29239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A6180"/>
                </a:solidFill>
                <a:latin typeface="Rubik"/>
              </a:rPr>
              <a:t>Дистрибуция через сообщества разработчиков, IT-компании и вузы.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6227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1B4BA9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DFCF8"/>
                </a:solidFill>
                <a:latin typeface="Unbounded"/>
              </a:rPr>
              <a:t>↓  Скачать бесплатно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38628" y="4462272"/>
            <a:ext cx="1796796" cy="566928"/>
          </a:xfrm>
          <a:prstGeom prst="roundRect">
            <a:avLst>
              <a:gd name="adj" fmla="val 50000"/>
            </a:avLst>
          </a:prstGeom>
          <a:solidFill>
            <a:srgbClr val="FDFCF8"/>
          </a:solidFill>
          <a:ln w="28575">
            <a:solidFill>
              <a:srgbClr val="1C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C2447"/>
                </a:solidFill>
                <a:latin typeface="Unbounded"/>
              </a:rPr>
              <a:t>&lt;/&gt;  GitHub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A6180"/>
                </a:solidFill>
                <a:latin typeface="JetBrains Mono"/>
              </a:rPr>
              <a:t>ОТКРЫТЫЙ ИСХОДНЫЙ КОД · MACOS 14+ · 10 ЯЗЫКОВ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