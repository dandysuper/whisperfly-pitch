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240719" y="310896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01/09</a:t>
            </a:r>
          </a:p>
        </p:txBody>
      </p:sp>
      <p:pic>
        <p:nvPicPr>
          <p:cNvPr id="17" name="Picture 16" descr="app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7" y="420624"/>
            <a:ext cx="1645920" cy="1645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" y="2304288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0" b="1" i="0">
                <a:solidFill>
                  <a:srgbClr val="1C2447"/>
                </a:solidFill>
                <a:latin typeface="Unbounded"/>
              </a:rPr>
              <a:t>WHISPER</a:t>
            </a:r>
            <a:r>
              <a:rPr sz="5200" b="1" i="0">
                <a:solidFill>
                  <a:srgbClr val="1B4BA9"/>
                </a:solidFill>
                <a:latin typeface="Unbounded"/>
              </a:rPr>
              <a:t>FLY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3310128"/>
            <a:ext cx="59737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A6180"/>
                </a:solidFill>
                <a:latin typeface="Rubik"/>
              </a:rPr>
              <a:t>Бесплатная диктовка нажатием клавиши для macOS. Голос — в текст: мгновенно, в любом приложении и без единого тенге за подписку.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49527" y="4206240"/>
            <a:ext cx="3121152" cy="841248"/>
          </a:xfrm>
          <a:prstGeom prst="roundRect">
            <a:avLst>
              <a:gd name="adj" fmla="val 9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4119" y="4334256"/>
            <a:ext cx="2791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50" b="1" i="0">
                <a:solidFill>
                  <a:srgbClr val="5A6180"/>
                </a:solidFill>
                <a:latin typeface="JetBrains Mono"/>
              </a:rPr>
              <a:t>ПРОЕКТ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4119" y="4572000"/>
            <a:ext cx="27919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50" b="1" i="0">
                <a:solidFill>
                  <a:srgbClr val="1C2447"/>
                </a:solidFill>
                <a:latin typeface="Rubik"/>
              </a:rPr>
              <a:t>WhisperFly — голосовой ввод для macOS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35271" y="4206240"/>
            <a:ext cx="3121152" cy="841248"/>
          </a:xfrm>
          <a:prstGeom prst="roundRect">
            <a:avLst>
              <a:gd name="adj" fmla="val 9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99863" y="4334256"/>
            <a:ext cx="2791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50" b="1" i="0">
                <a:solidFill>
                  <a:srgbClr val="5A6180"/>
                </a:solidFill>
                <a:latin typeface="JetBrains Mono"/>
              </a:rPr>
              <a:t>КОМАНДА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9863" y="4572000"/>
            <a:ext cx="27919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50" b="1" i="0">
                <a:solidFill>
                  <a:srgbClr val="1C2447"/>
                </a:solidFill>
                <a:latin typeface="Rubik"/>
              </a:rPr>
              <a:t>WhisperFly · независимый open-source проект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21015" y="4206240"/>
            <a:ext cx="3121152" cy="841248"/>
          </a:xfrm>
          <a:prstGeom prst="roundRect">
            <a:avLst>
              <a:gd name="adj" fmla="val 9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85607" y="4334256"/>
            <a:ext cx="2791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50" b="1" i="0">
                <a:solidFill>
                  <a:srgbClr val="5A6180"/>
                </a:solidFill>
                <a:latin typeface="JetBrains Mono"/>
              </a:rPr>
              <a:t>СПИКЕР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85607" y="4572000"/>
            <a:ext cx="27919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50" b="1" i="0">
                <a:solidFill>
                  <a:srgbClr val="1C2447"/>
                </a:solidFill>
                <a:latin typeface="Rubik"/>
              </a:rPr>
              <a:t>Даниил Бурыкин, основатель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41067" y="5413248"/>
            <a:ext cx="1714500" cy="292608"/>
          </a:xfrm>
          <a:prstGeom prst="roundRect">
            <a:avLst>
              <a:gd name="adj" fmla="val 50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PIZZA PITCH · SKO HUB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56151" y="5413248"/>
            <a:ext cx="2400300" cy="292608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16 ОКТЯБРЯ 2026 · ПЕТРОПАВЛОВСК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57035" y="5413248"/>
            <a:ext cx="1028700" cy="292608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ГОТОВЫЙ MVP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6319" y="5413248"/>
            <a:ext cx="891540" cy="292608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MACOS 14+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78443" y="5413248"/>
            <a:ext cx="891540" cy="292608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11 ЯЗЫКОВ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70567" y="5413248"/>
            <a:ext cx="480060" cy="292608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 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240719" y="310896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02/09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29184"/>
            <a:ext cx="899768" cy="292608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JetBrains Mono"/>
              </a:rPr>
              <a:t>ВВЕДЕНИЕ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94944"/>
            <a:ext cx="959479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C2447"/>
                </a:solidFill>
                <a:latin typeface="Unbounded"/>
              </a:rPr>
              <a:t>Что такое </a:t>
            </a:r>
            <a:r>
              <a:rPr sz="2700" b="1" i="0">
                <a:solidFill>
                  <a:srgbClr val="1B4BA9"/>
                </a:solidFill>
                <a:latin typeface="Unbounded"/>
              </a:rPr>
              <a:t>WhisperFly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298448"/>
            <a:ext cx="97776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WhisperFly — приложение для macOS, которое превращает речь в текст в любом приложении по одному нажатию ⌘⇧Space. Оно пишет и микрофон, и системный звук, распознаёт речь в облаке и вставляет готовый текст туда, где стоит курсор. Сегодня это работающий продукт версии 2.0 с открытым исходным кодом — и он полностью бесплатен.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2249424"/>
            <a:ext cx="6400800" cy="3749039"/>
          </a:xfrm>
          <a:prstGeom prst="roundRect">
            <a:avLst>
              <a:gd name="adj" fmla="val 9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2523744"/>
            <a:ext cx="420624" cy="420624"/>
          </a:xfrm>
          <a:prstGeom prst="roundRect">
            <a:avLst>
              <a:gd name="adj" fmla="val 16000"/>
            </a:avLst>
          </a:prstGeom>
          <a:solidFill>
            <a:srgbClr val="FA9E56"/>
          </a:solidFill>
          <a:ln w="28575">
            <a:solidFill>
              <a:srgbClr val="FA9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C2447"/>
                </a:solidFill>
                <a:latin typeface="Unbounded"/>
              </a:rPr>
              <a:t>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3090672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300" b="1" i="0">
                <a:solidFill>
                  <a:srgbClr val="FDFCF8"/>
                </a:solidFill>
                <a:latin typeface="Unbounded"/>
              </a:rPr>
              <a:t>ГЛАВНАЯ ЦЕЛЬ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3529584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200" b="0" i="0">
                <a:solidFill>
                  <a:srgbClr val="FDFCF8"/>
                </a:solidFill>
                <a:latin typeface="Rubik"/>
              </a:rPr>
              <a:t>Убрать разрыв между скоростью мысли и скоростью набора текста — сделать голосовой ввод бесплатным, мгновенным и доступным каждому, кто работает за Mac.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5138928"/>
            <a:ext cx="1682496" cy="256032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DF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JetBrains Mono"/>
              </a:rPr>
              <a:t>Любое приложение macOS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06040" y="5138928"/>
            <a:ext cx="1618488" cy="256032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DF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JetBrains Mono"/>
              </a:rPr>
              <a:t>Без локальных моделей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06824" y="5138928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FA9E56"/>
          </a:solidFill>
          <a:ln w="28575">
            <a:solidFill>
              <a:srgbClr val="FA9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 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50608" y="2249424"/>
            <a:ext cx="44741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5A6180"/>
                </a:solidFill>
                <a:latin typeface="JetBrains Mono"/>
              </a:rPr>
              <a:t>КОНКРЕТНЫЕ ЗАДАЧИ</a:t>
            </a:r>
          </a:p>
        </p:txBody>
      </p:sp>
      <p:sp>
        <p:nvSpPr>
          <p:cNvPr id="28" name="Oval 27"/>
          <p:cNvSpPr/>
          <p:nvPr/>
        </p:nvSpPr>
        <p:spPr>
          <a:xfrm>
            <a:off x="7150608" y="2615184"/>
            <a:ext cx="310896" cy="310896"/>
          </a:xfrm>
          <a:prstGeom prst="ellipse">
            <a:avLst/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1232" y="2615184"/>
            <a:ext cx="40535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00" b="1" i="0">
                <a:solidFill>
                  <a:srgbClr val="1C2447"/>
                </a:solidFill>
                <a:latin typeface="Rubik"/>
              </a:rPr>
              <a:t>Сделать ввод мгновенным. </a:t>
            </a:r>
            <a:r>
              <a:rPr sz="900" b="0" i="0">
                <a:solidFill>
                  <a:srgbClr val="5A6180"/>
                </a:solidFill>
                <a:latin typeface="Rubik"/>
              </a:rPr>
              <a:t>Один хоткей, вставка текста в активное поле, отклик — секунды.</a:t>
            </a:r>
          </a:p>
        </p:txBody>
      </p:sp>
      <p:sp>
        <p:nvSpPr>
          <p:cNvPr id="30" name="Oval 29"/>
          <p:cNvSpPr/>
          <p:nvPr/>
        </p:nvSpPr>
        <p:spPr>
          <a:xfrm>
            <a:off x="7150608" y="3456432"/>
            <a:ext cx="310896" cy="310896"/>
          </a:xfrm>
          <a:prstGeom prst="ellipse">
            <a:avLst/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71232" y="3456432"/>
            <a:ext cx="40535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00" b="1" i="0">
                <a:solidFill>
                  <a:srgbClr val="1C2447"/>
                </a:solidFill>
                <a:latin typeface="Rubik"/>
              </a:rPr>
              <a:t>Охватить все сценарии звука. </a:t>
            </a:r>
            <a:r>
              <a:rPr sz="900" b="0" i="0">
                <a:solidFill>
                  <a:srgbClr val="5A6180"/>
                </a:solidFill>
                <a:latin typeface="Rubik"/>
              </a:rPr>
              <a:t>Микрофон, системный звук и готовые аудио- и видеофайлы.</a:t>
            </a:r>
          </a:p>
        </p:txBody>
      </p:sp>
      <p:sp>
        <p:nvSpPr>
          <p:cNvPr id="32" name="Oval 31"/>
          <p:cNvSpPr/>
          <p:nvPr/>
        </p:nvSpPr>
        <p:spPr>
          <a:xfrm>
            <a:off x="7150608" y="4297680"/>
            <a:ext cx="310896" cy="310896"/>
          </a:xfrm>
          <a:prstGeom prst="ellipse">
            <a:avLst/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2" y="4297680"/>
            <a:ext cx="40535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00" b="1" i="0">
                <a:solidFill>
                  <a:srgbClr val="1C2447"/>
                </a:solidFill>
                <a:latin typeface="Rubik"/>
              </a:rPr>
              <a:t>Снять языковой барьер. </a:t>
            </a:r>
            <a:r>
              <a:rPr sz="900" b="0" i="0">
                <a:solidFill>
                  <a:srgbClr val="5A6180"/>
                </a:solidFill>
                <a:latin typeface="Rubik"/>
              </a:rPr>
              <a:t>Интерфейс на 11 языках, включая казахский; распознавание — более 100 языков.</a:t>
            </a:r>
          </a:p>
        </p:txBody>
      </p:sp>
      <p:sp>
        <p:nvSpPr>
          <p:cNvPr id="34" name="Oval 33"/>
          <p:cNvSpPr/>
          <p:nvPr/>
        </p:nvSpPr>
        <p:spPr>
          <a:xfrm>
            <a:off x="7150608" y="5138928"/>
            <a:ext cx="310896" cy="310896"/>
          </a:xfrm>
          <a:prstGeom prst="ellipse">
            <a:avLst/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71232" y="5138928"/>
            <a:ext cx="40535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00" b="1" i="0">
                <a:solidFill>
                  <a:srgbClr val="1C2447"/>
                </a:solidFill>
                <a:latin typeface="Rubik"/>
              </a:rPr>
              <a:t>Вывести на рынок. </a:t>
            </a:r>
            <a:r>
              <a:rPr sz="900" b="0" i="0">
                <a:solidFill>
                  <a:srgbClr val="5A6180"/>
                </a:solidFill>
                <a:latin typeface="Rubik"/>
              </a:rPr>
              <a:t>Лендинг, первые 1 000 пользователей и грант GitHub на AI-модели.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240719" y="310896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03/09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29184"/>
            <a:ext cx="1221636" cy="292608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JetBrains Mono"/>
              </a:rPr>
              <a:t>УНИКАЛЬНОСТЬ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94944"/>
            <a:ext cx="959479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C2447"/>
                </a:solidFill>
                <a:latin typeface="Unbounded"/>
              </a:rPr>
              <a:t>Бесплатно и </a:t>
            </a:r>
            <a:r>
              <a:rPr sz="2700" b="1" i="0">
                <a:solidFill>
                  <a:srgbClr val="1B4BA9"/>
                </a:solidFill>
                <a:latin typeface="Unbounded"/>
              </a:rPr>
              <a:t>открыто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1517904"/>
            <a:ext cx="2377435" cy="384048"/>
          </a:xfrm>
          <a:prstGeom prst="rect">
            <a:avLst/>
          </a:prstGeom>
          <a:solidFill>
            <a:srgbClr val="1C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Unbounded"/>
              </a:rPr>
              <a:t>ПРОДУКТ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44363" y="1517904"/>
            <a:ext cx="1713965" cy="38404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Unbounded"/>
              </a:rPr>
              <a:t>ЦЕНА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58328" y="1517904"/>
            <a:ext cx="1769254" cy="38404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Unbounded"/>
              </a:rPr>
              <a:t>СИСТЕМНЫЙ ЗВУК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27582" y="1517904"/>
            <a:ext cx="1326940" cy="38404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Unbounded"/>
              </a:rPr>
              <a:t>ФАЙЛЫ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54522" y="1517904"/>
            <a:ext cx="1769254" cy="38404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Unbounded"/>
              </a:rPr>
              <a:t>ОТКРЫТЫЙ КОД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23776" y="1517904"/>
            <a:ext cx="2100991" cy="38404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Unbounded"/>
              </a:rPr>
              <a:t>КАЗАХСКИЙ ИНТЕРФЕЙС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1901952"/>
            <a:ext cx="2377435" cy="457200"/>
          </a:xfrm>
          <a:prstGeom prst="rect">
            <a:avLst/>
          </a:prstGeom>
          <a:solidFill>
            <a:srgbClr val="F7E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950" b="1">
                <a:solidFill>
                  <a:srgbClr val="1C2447"/>
                </a:solidFill>
                <a:latin typeface="Rubik"/>
              </a:rPr>
              <a:t>WhisperFly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44363" y="1901952"/>
            <a:ext cx="1713965" cy="457200"/>
          </a:xfrm>
          <a:prstGeom prst="rect">
            <a:avLst/>
          </a:prstGeom>
          <a:solidFill>
            <a:srgbClr val="F7E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950" b="1">
                <a:solidFill>
                  <a:srgbClr val="1C2447"/>
                </a:solidFill>
                <a:latin typeface="Rubik"/>
              </a:rPr>
              <a:t>0 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58328" y="1901952"/>
            <a:ext cx="1769254" cy="457200"/>
          </a:xfrm>
          <a:prstGeom prst="rect">
            <a:avLst/>
          </a:prstGeom>
          <a:solidFill>
            <a:srgbClr val="F7E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27582" y="1901952"/>
            <a:ext cx="1326940" cy="457200"/>
          </a:xfrm>
          <a:prstGeom prst="rect">
            <a:avLst/>
          </a:prstGeom>
          <a:solidFill>
            <a:srgbClr val="F7E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54522" y="1901952"/>
            <a:ext cx="1769254" cy="457200"/>
          </a:xfrm>
          <a:prstGeom prst="rect">
            <a:avLst/>
          </a:prstGeom>
          <a:solidFill>
            <a:srgbClr val="F7E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23776" y="1901952"/>
            <a:ext cx="2100991" cy="457200"/>
          </a:xfrm>
          <a:prstGeom prst="rect">
            <a:avLst/>
          </a:prstGeom>
          <a:solidFill>
            <a:srgbClr val="F7E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2359152"/>
            <a:ext cx="2377435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950" b="0">
                <a:solidFill>
                  <a:srgbClr val="1C2447"/>
                </a:solidFill>
                <a:latin typeface="Rubik"/>
              </a:rPr>
              <a:t>Superwhisper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44363" y="2359152"/>
            <a:ext cx="1713965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950" b="0">
                <a:solidFill>
                  <a:srgbClr val="1C2447"/>
                </a:solidFill>
                <a:latin typeface="Rubik"/>
              </a:rPr>
              <a:t>от $8,99/мес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58328" y="2359152"/>
            <a:ext cx="1769254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27582" y="2359152"/>
            <a:ext cx="1326940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54522" y="2359152"/>
            <a:ext cx="1769254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23776" y="2359152"/>
            <a:ext cx="2100991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2816352"/>
            <a:ext cx="2377435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950" b="0">
                <a:solidFill>
                  <a:srgbClr val="1C2447"/>
                </a:solidFill>
                <a:latin typeface="Rubik"/>
              </a:rPr>
              <a:t>MacWhisper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44363" y="2816352"/>
            <a:ext cx="1713965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950" b="0">
                <a:solidFill>
                  <a:srgbClr val="1C2447"/>
                </a:solidFill>
                <a:latin typeface="Rubik"/>
              </a:rPr>
              <a:t>от €59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58328" y="2816352"/>
            <a:ext cx="1769254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27582" y="2816352"/>
            <a:ext cx="1326940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54522" y="2816352"/>
            <a:ext cx="1769254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23776" y="2816352"/>
            <a:ext cx="2100991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3273552"/>
            <a:ext cx="2377435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950" b="0">
                <a:solidFill>
                  <a:srgbClr val="1C2447"/>
                </a:solidFill>
                <a:latin typeface="Rubik"/>
              </a:rPr>
              <a:t>Wispr Flow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44363" y="3273552"/>
            <a:ext cx="1713965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950" b="0">
                <a:solidFill>
                  <a:srgbClr val="1C2447"/>
                </a:solidFill>
                <a:latin typeface="Rubik"/>
              </a:rPr>
              <a:t>от $12/мес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58328" y="3273552"/>
            <a:ext cx="1769254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27582" y="3273552"/>
            <a:ext cx="1326940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54522" y="3273552"/>
            <a:ext cx="1769254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23776" y="3273552"/>
            <a:ext cx="2100991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3730752"/>
            <a:ext cx="2377435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950" b="0">
                <a:solidFill>
                  <a:srgbClr val="1C2447"/>
                </a:solidFill>
                <a:latin typeface="Rubik"/>
              </a:rPr>
              <a:t>Apple «Диктовка»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44363" y="3730752"/>
            <a:ext cx="1713965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950" b="0">
                <a:solidFill>
                  <a:srgbClr val="1C2447"/>
                </a:solidFill>
                <a:latin typeface="Rubik"/>
              </a:rPr>
              <a:t>0 ₸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658328" y="3730752"/>
            <a:ext cx="1769254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27582" y="3730752"/>
            <a:ext cx="1326940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754522" y="3730752"/>
            <a:ext cx="1769254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23776" y="3730752"/>
            <a:ext cx="2100991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1517904"/>
            <a:ext cx="11057839" cy="2670048"/>
          </a:xfrm>
          <a:prstGeom prst="rect">
            <a:avLst/>
          </a:prstGeom>
          <a:noFill/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66928" y="4626864"/>
            <a:ext cx="11057839" cy="1316736"/>
          </a:xfrm>
          <a:prstGeom prst="roundRect">
            <a:avLst>
              <a:gd name="adj" fmla="val 9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4672" y="4809744"/>
            <a:ext cx="105823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5A6180"/>
                </a:solidFill>
                <a:latin typeface="JetBrains Mono"/>
              </a:rPr>
              <a:t>В ЧЁМ ИННОВАЦИОННОСТЬ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4672" y="5102352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7552" y="5102352"/>
            <a:ext cx="313730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Облачный ASR вместо локальной модели. </a:t>
            </a:r>
            <a:r>
              <a:rPr sz="850" b="0" i="0">
                <a:solidFill>
                  <a:srgbClr val="5A6180"/>
                </a:solidFill>
                <a:latin typeface="Rubik"/>
              </a:rPr>
              <a:t>Приложение весит мегабайты, а не гигабайты.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5754" y="5102352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18634" y="5102352"/>
            <a:ext cx="313730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Вставка через Accessibility API: </a:t>
            </a:r>
            <a:r>
              <a:rPr sz="850" b="0" i="0">
                <a:solidFill>
                  <a:srgbClr val="5A6180"/>
                </a:solidFill>
                <a:latin typeface="Rubik"/>
              </a:rPr>
              <a:t>текст появляется прямо там, где стоит курсор.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66836" y="5102352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49716" y="5102352"/>
            <a:ext cx="313730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Системный звук через ScreenCaptureKit: </a:t>
            </a:r>
            <a:r>
              <a:rPr sz="850" b="0" i="0">
                <a:solidFill>
                  <a:srgbClr val="5A6180"/>
                </a:solidFill>
                <a:latin typeface="Rubik"/>
              </a:rPr>
              <a:t>созвоны и видео транскрибируются прямо с дорожки Mac.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240719" y="310896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04/09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29184"/>
            <a:ext cx="497433" cy="292608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JetBrains Mono"/>
              </a:rPr>
              <a:t>КПД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94944"/>
            <a:ext cx="959479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C2447"/>
                </a:solidFill>
                <a:latin typeface="Unbounded"/>
              </a:rPr>
              <a:t>Выгоды </a:t>
            </a:r>
            <a:r>
              <a:rPr sz="2700" b="1" i="0">
                <a:solidFill>
                  <a:srgbClr val="1B4BA9"/>
                </a:solidFill>
                <a:latin typeface="Unbounded"/>
              </a:rPr>
              <a:t>обществу и региону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1481328"/>
            <a:ext cx="3564026" cy="2871216"/>
          </a:xfrm>
          <a:prstGeom prst="roundRect">
            <a:avLst>
              <a:gd name="adj" fmla="val 9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2" y="1719072"/>
            <a:ext cx="384048" cy="384048"/>
          </a:xfrm>
          <a:prstGeom prst="roundRect">
            <a:avLst>
              <a:gd name="adj" fmla="val 16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C2447"/>
                </a:solidFill>
                <a:latin typeface="Unbounded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2267712"/>
            <a:ext cx="30885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00" b="1" i="0">
                <a:solidFill>
                  <a:srgbClr val="1C2447"/>
                </a:solidFill>
                <a:latin typeface="Unbounded"/>
              </a:rPr>
              <a:t>ОБЩЕСТВУ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2688336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1C2447"/>
                </a:solidFill>
                <a:latin typeface="Rubik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2688336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Rubik"/>
              </a:rPr>
              <a:t>Доступность. </a:t>
            </a:r>
            <a:r>
              <a:rPr sz="800" b="0" i="0">
                <a:solidFill>
                  <a:srgbClr val="5A6180"/>
                </a:solidFill>
                <a:latin typeface="Rubik"/>
              </a:rPr>
              <a:t>Голосовой ввод возвращает работу с текстом людям с нарушениями моторики и зрения.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3182112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1C2447"/>
                </a:solidFill>
                <a:latin typeface="Rubik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3182112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Rubik"/>
              </a:rPr>
              <a:t>Язык и культура. </a:t>
            </a:r>
            <a:r>
              <a:rPr sz="800" b="0" i="0">
                <a:solidFill>
                  <a:srgbClr val="5A6180"/>
                </a:solidFill>
                <a:latin typeface="Rubik"/>
              </a:rPr>
              <a:t>Казахский интерфейс — редкий случай для нишевого macOS-софта; распознавание — более 100 языков.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3675888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1C2447"/>
                </a:solidFill>
                <a:latin typeface="Rubik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3675888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Rubik"/>
              </a:rPr>
              <a:t>Бесплатный доступ. </a:t>
            </a:r>
            <a:r>
              <a:rPr sz="800" b="0" i="0">
                <a:solidFill>
                  <a:srgbClr val="5A6180"/>
                </a:solidFill>
                <a:latin typeface="Rubik"/>
              </a:rPr>
              <a:t>Студенты, учителя и малый бизнес получают инструмент без подписки.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13834" y="1481328"/>
            <a:ext cx="3564026" cy="2871216"/>
          </a:xfrm>
          <a:prstGeom prst="roundRect">
            <a:avLst>
              <a:gd name="adj" fmla="val 9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51578" y="1719072"/>
            <a:ext cx="384048" cy="384048"/>
          </a:xfrm>
          <a:prstGeom prst="roundRect">
            <a:avLst>
              <a:gd name="adj" fmla="val 16000"/>
            </a:avLst>
          </a:prstGeom>
          <a:solidFill>
            <a:srgbClr val="FDFCF8"/>
          </a:solidFill>
          <a:ln w="28575">
            <a:solidFill>
              <a:srgbClr val="FDF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B4BA9"/>
                </a:solidFill>
                <a:latin typeface="Unbounded"/>
              </a:rPr>
              <a:t>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1578" y="2267712"/>
            <a:ext cx="30885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00" b="1" i="0">
                <a:solidFill>
                  <a:srgbClr val="FDFCF8"/>
                </a:solidFill>
                <a:latin typeface="Unbounded"/>
              </a:rPr>
              <a:t>ЭКОНОМИКЕ РЕГИОНА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1578" y="2688336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FDFCF8"/>
                </a:solidFill>
                <a:latin typeface="Rubik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34458" y="2688336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FDFCF8"/>
                </a:solidFill>
                <a:latin typeface="Rubik"/>
              </a:rPr>
              <a:t>Экономия рабочего времени. </a:t>
            </a:r>
            <a:r>
              <a:rPr sz="800" b="0" i="0">
                <a:solidFill>
                  <a:srgbClr val="FDFCF8"/>
                </a:solidFill>
                <a:latin typeface="Rubik"/>
              </a:rPr>
              <a:t>Часы, которые специалисты тратят на набор, а не на работу.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1578" y="3182112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FDFCF8"/>
                </a:solidFill>
                <a:latin typeface="Rubik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4458" y="3182112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FDFCF8"/>
                </a:solidFill>
                <a:latin typeface="Rubik"/>
              </a:rPr>
              <a:t>Импортозамещение. </a:t>
            </a:r>
            <a:r>
              <a:rPr sz="800" b="0" i="0">
                <a:solidFill>
                  <a:srgbClr val="FDFCF8"/>
                </a:solidFill>
                <a:latin typeface="Rubik"/>
              </a:rPr>
              <a:t>Платные зарубежные подписки заменяются бесплатным локальным продуктом.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1578" y="3675888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FDFCF8"/>
                </a:solidFill>
                <a:latin typeface="Rubik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34458" y="3675888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FDFCF8"/>
                </a:solidFill>
                <a:latin typeface="Rubik"/>
              </a:rPr>
              <a:t>Налоговая база. </a:t>
            </a:r>
            <a:r>
              <a:rPr sz="800" b="0" i="0">
                <a:solidFill>
                  <a:srgbClr val="FDFCF8"/>
                </a:solidFill>
                <a:latin typeface="Rubik"/>
              </a:rPr>
              <a:t>Платная версия и корпоративные внедрения оформляются как резидент Казахстана.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60740" y="1481328"/>
            <a:ext cx="3564026" cy="2871216"/>
          </a:xfrm>
          <a:prstGeom prst="roundRect">
            <a:avLst>
              <a:gd name="adj" fmla="val 9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298484" y="1719072"/>
            <a:ext cx="384048" cy="384048"/>
          </a:xfrm>
          <a:prstGeom prst="roundRect">
            <a:avLst>
              <a:gd name="adj" fmla="val 16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A9E56"/>
                </a:solidFill>
                <a:latin typeface="Unbounded"/>
              </a:rPr>
              <a:t>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98484" y="2267712"/>
            <a:ext cx="30885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00" b="1" i="0">
                <a:solidFill>
                  <a:srgbClr val="1C2447"/>
                </a:solidFill>
                <a:latin typeface="Unbounded"/>
              </a:rPr>
              <a:t>КОМПЕТЕНЦИЯМ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98484" y="2688336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1C2447"/>
                </a:solidFill>
                <a:latin typeface="Rubik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81364" y="2688336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Rubik"/>
              </a:rPr>
              <a:t>Открытый код как учебный материал. </a:t>
            </a:r>
            <a:r>
              <a:rPr sz="800" b="0" i="0">
                <a:solidFill>
                  <a:srgbClr val="1C2447"/>
                </a:solidFill>
                <a:latin typeface="Rubik"/>
              </a:rPr>
              <a:t>3 000+ строк Swift на GitHub — площадка для студентов.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8484" y="3182112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1C2447"/>
                </a:solidFill>
                <a:latin typeface="Rubik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81364" y="3182112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Rubik"/>
              </a:rPr>
              <a:t>Экспортный потенциал. </a:t>
            </a:r>
            <a:r>
              <a:rPr sz="800" b="0" i="0">
                <a:solidFill>
                  <a:srgbClr val="1C2447"/>
                </a:solidFill>
                <a:latin typeface="Rubik"/>
              </a:rPr>
              <a:t>Продукт для глобального macOS-рынка, созданный в регионе.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98484" y="3675888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1C2447"/>
                </a:solidFill>
                <a:latin typeface="Rubik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1364" y="3675888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Rubik"/>
              </a:rPr>
              <a:t>Рабочие места. </a:t>
            </a:r>
            <a:r>
              <a:rPr sz="800" b="0" i="0">
                <a:solidFill>
                  <a:srgbClr val="1C2447"/>
                </a:solidFill>
                <a:latin typeface="Rubik"/>
              </a:rPr>
              <a:t>План найма: продуктовый маркетинг, продажи и поддержка в 2027 году.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535424"/>
            <a:ext cx="11057839" cy="1737360"/>
          </a:xfrm>
          <a:prstGeom prst="roundRect">
            <a:avLst>
              <a:gd name="adj" fmla="val 9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2" y="4700016"/>
            <a:ext cx="105823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5A6180"/>
                </a:solidFill>
                <a:latin typeface="JetBrains Mono"/>
              </a:rPr>
              <a:t>РАСЧЁТ ЭФФЕКТА · 12 МЕСЯЦЕВ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" y="4992624"/>
            <a:ext cx="23986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447"/>
                </a:solidFill>
                <a:latin typeface="Unbounded"/>
              </a:rPr>
              <a:t>5 000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5394960"/>
            <a:ext cx="23986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1" i="0">
                <a:solidFill>
                  <a:srgbClr val="5A6180"/>
                </a:solidFill>
                <a:latin typeface="JetBrains Mono"/>
              </a:rPr>
              <a:t>ПОЛЬЗОВАТЕЛЕЙ ЗА ГОД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3371" y="4992624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5A6180"/>
                </a:solidFill>
                <a:latin typeface="Unbounded"/>
              </a:rPr>
              <a:t>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2555" y="4992624"/>
            <a:ext cx="23986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447"/>
                </a:solidFill>
                <a:latin typeface="Unbounded"/>
              </a:rPr>
              <a:t>40 мин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32555" y="5394960"/>
            <a:ext cx="23986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1" i="0">
                <a:solidFill>
                  <a:srgbClr val="5A6180"/>
                </a:solidFill>
                <a:latin typeface="JetBrains Mono"/>
              </a:rPr>
              <a:t>ЭКОНОМИИ В ДЕНЬ НА ЧЕЛОВЕКА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31254" y="4992624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5A6180"/>
                </a:solidFill>
                <a:latin typeface="Unbounded"/>
              </a:rPr>
              <a:t>×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60438" y="4992624"/>
            <a:ext cx="23986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447"/>
                </a:solidFill>
                <a:latin typeface="Unbounded"/>
              </a:rPr>
              <a:t>220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60438" y="5394960"/>
            <a:ext cx="23986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1" i="0">
                <a:solidFill>
                  <a:srgbClr val="5A6180"/>
                </a:solidFill>
                <a:latin typeface="JetBrains Mono"/>
              </a:rPr>
              <a:t>РАБОЧИХ ДНЕЙ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59137" y="4992624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5A6180"/>
                </a:solidFill>
                <a:latin typeface="Unbounded"/>
              </a:rPr>
              <a:t>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88321" y="4992624"/>
            <a:ext cx="23986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B4BA9"/>
                </a:solidFill>
                <a:latin typeface="Unbounded"/>
              </a:rPr>
              <a:t>≈ 0,7 млн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88321" y="5394960"/>
            <a:ext cx="23986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1" i="0">
                <a:solidFill>
                  <a:srgbClr val="5A6180"/>
                </a:solidFill>
                <a:latin typeface="JetBrains Mono"/>
              </a:rPr>
              <a:t>ЧЕЛОВЕКО-ЧАСОВ В ГОД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4672" y="5742432"/>
            <a:ext cx="10582351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5A6180"/>
                </a:solidFill>
                <a:latin typeface="Rubik"/>
              </a:rPr>
              <a:t>Это эквивалент примерно 400 полных ставок в год — время, которое регион получает без единого тенге бюджетных затрат.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240719" y="310896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05/09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29184"/>
            <a:ext cx="1463037" cy="292608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JetBrains Mono"/>
              </a:rPr>
              <a:t>ПЛАН РЕАЛИЗАЦИИ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94944"/>
            <a:ext cx="959479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C2447"/>
                </a:solidFill>
                <a:latin typeface="Unbounded"/>
              </a:rPr>
              <a:t>От продукта к </a:t>
            </a:r>
            <a:r>
              <a:rPr sz="2700" b="1" i="0">
                <a:solidFill>
                  <a:srgbClr val="1B4BA9"/>
                </a:solidFill>
                <a:latin typeface="Unbounded"/>
              </a:rPr>
              <a:t>платформе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225296"/>
            <a:ext cx="97776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Пять этапов на 12 месяцев. Первый уже закрыт, остальные опираются на работающий продукт, а не на прототип.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1810512"/>
            <a:ext cx="2065263" cy="137160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048256"/>
            <a:ext cx="2065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Q4 2026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359152"/>
            <a:ext cx="630936" cy="219456"/>
          </a:xfrm>
          <a:prstGeom prst="roundRect">
            <a:avLst>
              <a:gd name="adj" fmla="val 50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1C2447"/>
                </a:solidFill>
                <a:latin typeface="JetBrains Mono"/>
              </a:rPr>
              <a:t>ГОТОВО</a:t>
            </a:r>
          </a:p>
        </p:txBody>
      </p:sp>
      <p:sp>
        <p:nvSpPr>
          <p:cNvPr id="23" name="Oval 22"/>
          <p:cNvSpPr/>
          <p:nvPr/>
        </p:nvSpPr>
        <p:spPr>
          <a:xfrm>
            <a:off x="576072" y="2752344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2706624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Релиз 2.0 выпущен</a:t>
            </a:r>
          </a:p>
        </p:txBody>
      </p:sp>
      <p:sp>
        <p:nvSpPr>
          <p:cNvPr id="25" name="Oval 24"/>
          <p:cNvSpPr/>
          <p:nvPr/>
        </p:nvSpPr>
        <p:spPr>
          <a:xfrm>
            <a:off x="576072" y="3081528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3035808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Системный звук и файлы</a:t>
            </a:r>
          </a:p>
        </p:txBody>
      </p:sp>
      <p:sp>
        <p:nvSpPr>
          <p:cNvPr id="27" name="Oval 26"/>
          <p:cNvSpPr/>
          <p:nvPr/>
        </p:nvSpPr>
        <p:spPr>
          <a:xfrm>
            <a:off x="576072" y="3410712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3364992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История и 11 языков</a:t>
            </a:r>
          </a:p>
        </p:txBody>
      </p:sp>
      <p:sp>
        <p:nvSpPr>
          <p:cNvPr id="29" name="Oval 28"/>
          <p:cNvSpPr/>
          <p:nvPr/>
        </p:nvSpPr>
        <p:spPr>
          <a:xfrm>
            <a:off x="576072" y="3739896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3694176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Сборки: ARM, Intel, универсальная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15071" y="1810512"/>
            <a:ext cx="2065263" cy="137160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15071" y="2048256"/>
            <a:ext cx="2065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Q1 2027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815071" y="2359152"/>
            <a:ext cx="768096" cy="219456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1C2447"/>
                </a:solidFill>
                <a:latin typeface="JetBrains Mono"/>
              </a:rPr>
              <a:t>В РАБОТЕ</a:t>
            </a:r>
          </a:p>
        </p:txBody>
      </p:sp>
      <p:sp>
        <p:nvSpPr>
          <p:cNvPr id="34" name="Oval 33"/>
          <p:cNvSpPr/>
          <p:nvPr/>
        </p:nvSpPr>
        <p:spPr>
          <a:xfrm>
            <a:off x="2824215" y="2752344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7951" y="2706624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Лендинг продукта</a:t>
            </a:r>
          </a:p>
        </p:txBody>
      </p:sp>
      <p:sp>
        <p:nvSpPr>
          <p:cNvPr id="36" name="Oval 35"/>
          <p:cNvSpPr/>
          <p:nvPr/>
        </p:nvSpPr>
        <p:spPr>
          <a:xfrm>
            <a:off x="2824215" y="3081528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97951" y="3035808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Заявка на грант GitHub</a:t>
            </a:r>
          </a:p>
        </p:txBody>
      </p:sp>
      <p:sp>
        <p:nvSpPr>
          <p:cNvPr id="38" name="Oval 37"/>
          <p:cNvSpPr/>
          <p:nvPr/>
        </p:nvSpPr>
        <p:spPr>
          <a:xfrm>
            <a:off x="2824215" y="3410712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97951" y="3364992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Первые 1 000 установок</a:t>
            </a:r>
          </a:p>
        </p:txBody>
      </p:sp>
      <p:sp>
        <p:nvSpPr>
          <p:cNvPr id="40" name="Oval 39"/>
          <p:cNvSpPr/>
          <p:nvPr/>
        </p:nvSpPr>
        <p:spPr>
          <a:xfrm>
            <a:off x="2824215" y="3739896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97951" y="3694176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Обратная связь и метрики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63214" y="1810512"/>
            <a:ext cx="2065263" cy="137160"/>
          </a:xfrm>
          <a:prstGeom prst="roundRect">
            <a:avLst>
              <a:gd name="adj" fmla="val 50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63214" y="2048256"/>
            <a:ext cx="2065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Q2 2027</a:t>
            </a:r>
          </a:p>
        </p:txBody>
      </p:sp>
      <p:sp>
        <p:nvSpPr>
          <p:cNvPr id="44" name="Oval 43"/>
          <p:cNvSpPr/>
          <p:nvPr/>
        </p:nvSpPr>
        <p:spPr>
          <a:xfrm>
            <a:off x="5072358" y="2752344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46094" y="2706624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WhisperFly Pro</a:t>
            </a:r>
          </a:p>
        </p:txBody>
      </p:sp>
      <p:sp>
        <p:nvSpPr>
          <p:cNvPr id="46" name="Oval 45"/>
          <p:cNvSpPr/>
          <p:nvPr/>
        </p:nvSpPr>
        <p:spPr>
          <a:xfrm>
            <a:off x="5072358" y="3081528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46094" y="3035808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Оплата и лицензии</a:t>
            </a:r>
          </a:p>
        </p:txBody>
      </p:sp>
      <p:sp>
        <p:nvSpPr>
          <p:cNvPr id="48" name="Oval 47"/>
          <p:cNvSpPr/>
          <p:nvPr/>
        </p:nvSpPr>
        <p:spPr>
          <a:xfrm>
            <a:off x="5072358" y="3410712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46094" y="3364992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Свой словарь</a:t>
            </a:r>
          </a:p>
        </p:txBody>
      </p:sp>
      <p:sp>
        <p:nvSpPr>
          <p:cNvPr id="50" name="Oval 49"/>
          <p:cNvSpPr/>
          <p:nvPr/>
        </p:nvSpPr>
        <p:spPr>
          <a:xfrm>
            <a:off x="5072358" y="3739896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46094" y="3694176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Найм: маркетинг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1357" y="1810512"/>
            <a:ext cx="2065263" cy="137160"/>
          </a:xfrm>
          <a:prstGeom prst="roundRect">
            <a:avLst>
              <a:gd name="adj" fmla="val 50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1357" y="2048256"/>
            <a:ext cx="2065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Q3 2027</a:t>
            </a:r>
          </a:p>
        </p:txBody>
      </p:sp>
      <p:sp>
        <p:nvSpPr>
          <p:cNvPr id="54" name="Oval 53"/>
          <p:cNvSpPr/>
          <p:nvPr/>
        </p:nvSpPr>
        <p:spPr>
          <a:xfrm>
            <a:off x="7320501" y="2752344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94237" y="2706624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Потоковая запись</a:t>
            </a:r>
          </a:p>
        </p:txBody>
      </p:sp>
      <p:sp>
        <p:nvSpPr>
          <p:cNvPr id="56" name="Oval 55"/>
          <p:cNvSpPr/>
          <p:nvPr/>
        </p:nvSpPr>
        <p:spPr>
          <a:xfrm>
            <a:off x="7320501" y="3081528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94237" y="3035808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iOS-компаньон</a:t>
            </a:r>
          </a:p>
        </p:txBody>
      </p:sp>
      <p:sp>
        <p:nvSpPr>
          <p:cNvPr id="58" name="Oval 57"/>
          <p:cNvSpPr/>
          <p:nvPr/>
        </p:nvSpPr>
        <p:spPr>
          <a:xfrm>
            <a:off x="7320501" y="3410712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94237" y="3364992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Версия для Windows</a:t>
            </a:r>
          </a:p>
        </p:txBody>
      </p:sp>
      <p:sp>
        <p:nvSpPr>
          <p:cNvPr id="60" name="Oval 59"/>
          <p:cNvSpPr/>
          <p:nvPr/>
        </p:nvSpPr>
        <p:spPr>
          <a:xfrm>
            <a:off x="7320501" y="3739896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494237" y="3694176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Публичный API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559500" y="1810512"/>
            <a:ext cx="2065263" cy="137160"/>
          </a:xfrm>
          <a:prstGeom prst="roundRect">
            <a:avLst>
              <a:gd name="adj" fmla="val 50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559500" y="2048256"/>
            <a:ext cx="2065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Q4 2027</a:t>
            </a:r>
          </a:p>
        </p:txBody>
      </p:sp>
      <p:sp>
        <p:nvSpPr>
          <p:cNvPr id="64" name="Oval 63"/>
          <p:cNvSpPr/>
          <p:nvPr/>
        </p:nvSpPr>
        <p:spPr>
          <a:xfrm>
            <a:off x="9568644" y="2752344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742380" y="2706624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Админ-панель и SSO</a:t>
            </a:r>
          </a:p>
        </p:txBody>
      </p:sp>
      <p:sp>
        <p:nvSpPr>
          <p:cNvPr id="66" name="Oval 65"/>
          <p:cNvSpPr/>
          <p:nvPr/>
        </p:nvSpPr>
        <p:spPr>
          <a:xfrm>
            <a:off x="9568644" y="3081528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42380" y="3035808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Общие словари</a:t>
            </a:r>
          </a:p>
        </p:txBody>
      </p:sp>
      <p:sp>
        <p:nvSpPr>
          <p:cNvPr id="68" name="Oval 67"/>
          <p:cNvSpPr/>
          <p:nvPr/>
        </p:nvSpPr>
        <p:spPr>
          <a:xfrm>
            <a:off x="9568644" y="3410712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42380" y="3364992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Развёртывание on-prem</a:t>
            </a:r>
          </a:p>
        </p:txBody>
      </p:sp>
      <p:sp>
        <p:nvSpPr>
          <p:cNvPr id="70" name="Oval 69"/>
          <p:cNvSpPr/>
          <p:nvPr/>
        </p:nvSpPr>
        <p:spPr>
          <a:xfrm>
            <a:off x="9568644" y="3739896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2380" y="3694176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Аудит безопасности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66928" y="4370832"/>
            <a:ext cx="11057839" cy="1572768"/>
          </a:xfrm>
          <a:prstGeom prst="roundRect">
            <a:avLst>
              <a:gd name="adj" fmla="val 9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4672" y="4553712"/>
            <a:ext cx="105823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5A6180"/>
                </a:solidFill>
                <a:latin typeface="JetBrains Mono"/>
              </a:rPr>
              <a:t>ПОЧЕМУ ПЛАН РЕАЛИСТИЧЕН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4672" y="4846320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" y="4846320"/>
            <a:ext cx="222953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Продукт уже работает. </a:t>
            </a:r>
            <a:r>
              <a:rPr sz="850" b="0" i="0">
                <a:solidFill>
                  <a:srgbClr val="5A6180"/>
                </a:solidFill>
                <a:latin typeface="Rubik"/>
              </a:rPr>
              <a:t>Ядро и интерфейс выпущены — предстоит развивать, а не начинать.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27983" y="4846320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710863" y="4846320"/>
            <a:ext cx="222953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Нулевая инфраструктура. </a:t>
            </a:r>
            <a:r>
              <a:rPr sz="850" b="0" i="0">
                <a:solidFill>
                  <a:srgbClr val="5A6180"/>
                </a:solidFill>
                <a:latin typeface="Rubik"/>
              </a:rPr>
              <a:t>Движки на бесплатных тарифах, платить за серверы не нужно.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51294" y="4846320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34174" y="4846320"/>
            <a:ext cx="222953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Один разработчик, весь стек. </a:t>
            </a:r>
            <a:r>
              <a:rPr sz="850" b="0" i="0">
                <a:solidFill>
                  <a:srgbClr val="5A6180"/>
                </a:solidFill>
                <a:latin typeface="Rubik"/>
              </a:rPr>
              <a:t>Дизайн, код, сборки и релизы — в одних руках.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74605" y="4846320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57485" y="4846320"/>
            <a:ext cx="222953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Финансирование под контролем. </a:t>
            </a:r>
            <a:r>
              <a:rPr sz="850" b="0" i="0">
                <a:solidFill>
                  <a:srgbClr val="5A6180"/>
                </a:solidFill>
                <a:latin typeface="Rubik"/>
              </a:rPr>
              <a:t>Грант GitHub покрывает смету — инвестиции не нужны.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240719" y="310896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06/09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29184"/>
            <a:ext cx="1865372" cy="292608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JetBrains Mono"/>
              </a:rPr>
              <a:t>ОЖИДАЕМЫЕ РЕЗУЛЬТАТЫ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94944"/>
            <a:ext cx="959479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C2447"/>
                </a:solidFill>
                <a:latin typeface="Unbounded"/>
              </a:rPr>
              <a:t>Результаты </a:t>
            </a:r>
            <a:r>
              <a:rPr sz="2700" b="1" i="0">
                <a:solidFill>
                  <a:srgbClr val="1B4BA9"/>
                </a:solidFill>
                <a:latin typeface="Unbounded"/>
              </a:rPr>
              <a:t>первого года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1481328"/>
            <a:ext cx="2627299" cy="2011680"/>
          </a:xfrm>
          <a:prstGeom prst="roundRect">
            <a:avLst>
              <a:gd name="adj" fmla="val 9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1938528"/>
            <a:ext cx="211523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DFCF8"/>
                </a:solidFill>
                <a:latin typeface="Unbounded"/>
              </a:rPr>
              <a:t>5 000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2414016"/>
            <a:ext cx="21152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00" b="1" i="0">
                <a:solidFill>
                  <a:srgbClr val="FDFCF8"/>
                </a:solidFill>
                <a:latin typeface="JetBrains Mono"/>
              </a:rPr>
              <a:t>УСТАНОВОК ЗА 12 МЕСЯЦЕВ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77107" y="1481328"/>
            <a:ext cx="2627299" cy="2011680"/>
          </a:xfrm>
          <a:prstGeom prst="roundRect">
            <a:avLst>
              <a:gd name="adj" fmla="val 9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33139" y="1938528"/>
            <a:ext cx="211523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DFCF8"/>
                </a:solidFill>
                <a:latin typeface="Unbounded"/>
              </a:rPr>
              <a:t>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3139" y="2414016"/>
            <a:ext cx="21152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00" b="1" i="0">
                <a:solidFill>
                  <a:srgbClr val="FDFCF8"/>
                </a:solidFill>
                <a:latin typeface="JetBrains Mono"/>
              </a:rPr>
              <a:t>ПЛАТЯЩИХ ПОЛЬЗОВАТЕЛЕЙ PRO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6" y="1481328"/>
            <a:ext cx="2627299" cy="2011680"/>
          </a:xfrm>
          <a:prstGeom prst="roundRect">
            <a:avLst>
              <a:gd name="adj" fmla="val 9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3318" y="1938528"/>
            <a:ext cx="211523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C2447"/>
                </a:solidFill>
                <a:latin typeface="Unbounded"/>
              </a:rPr>
              <a:t>$10 000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3318" y="2414016"/>
            <a:ext cx="21152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JetBrains Mono"/>
              </a:rPr>
              <a:t>ГРАНТ GITHUB ДЛЯ СТАРТАПОВ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7465" y="1481328"/>
            <a:ext cx="2627299" cy="2011680"/>
          </a:xfrm>
          <a:prstGeom prst="roundRect">
            <a:avLst>
              <a:gd name="adj" fmla="val 9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53497" y="1938528"/>
            <a:ext cx="211523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C2447"/>
                </a:solidFill>
                <a:latin typeface="Unbounded"/>
              </a:rPr>
              <a:t>0,7 млн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3497" y="2414016"/>
            <a:ext cx="21152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JetBrains Mono"/>
              </a:rPr>
              <a:t>СЭКОНОМЛЕННЫХ ЧЕЛОВЕКО-ЧАСОВ В ГОД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712463"/>
            <a:ext cx="11057839" cy="2121408"/>
          </a:xfrm>
          <a:prstGeom prst="roundRect">
            <a:avLst>
              <a:gd name="adj" fmla="val 9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3895343"/>
            <a:ext cx="105823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5A6180"/>
                </a:solidFill>
                <a:latin typeface="JetBrains Mono"/>
              </a:rPr>
              <a:t>КАК МЫ ОЦЕНИВАЕМ УСПЕХ ПРОЕКТА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187951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" y="4187951"/>
            <a:ext cx="49528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Охват. </a:t>
            </a:r>
            <a:r>
              <a:rPr sz="850" b="0" i="0">
                <a:solidFill>
                  <a:srgbClr val="5A6180"/>
                </a:solidFill>
                <a:latin typeface="Rubik"/>
              </a:rPr>
              <a:t>Не менее 5 000 активных установок за 12 месяцев и не менее 1 000 в первом квартале.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51295" y="4187951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4175" y="4187951"/>
            <a:ext cx="49528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Конверсия. </a:t>
            </a:r>
            <a:r>
              <a:rPr sz="850" b="0" i="0">
                <a:solidFill>
                  <a:srgbClr val="5A6180"/>
                </a:solidFill>
                <a:latin typeface="Rubik"/>
              </a:rPr>
              <a:t>Переход Free → Pro не ниже 5 % — при сохранении полностью бесплатного ядра.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791455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" y="4791455"/>
            <a:ext cx="49528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Удержание. </a:t>
            </a:r>
            <a:r>
              <a:rPr sz="850" b="0" i="0">
                <a:solidFill>
                  <a:srgbClr val="5A6180"/>
                </a:solidFill>
                <a:latin typeface="Rubik"/>
              </a:rPr>
              <a:t>Не менее 35 % пользователей возвращаются к продукту на 30-й день после установки.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51295" y="4791455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4175" y="4791455"/>
            <a:ext cx="49528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Финансирование. </a:t>
            </a:r>
            <a:r>
              <a:rPr sz="850" b="0" i="0">
                <a:solidFill>
                  <a:srgbClr val="5A6180"/>
                </a:solidFill>
                <a:latin typeface="Rubik"/>
              </a:rPr>
              <a:t>Грант GitHub для стартапов получен и покрывает смету на 6 месяцев — без внешних инвестиций.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240719" y="310896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07/09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29184"/>
            <a:ext cx="1543504" cy="292608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JetBrains Mono"/>
              </a:rPr>
              <a:t>ФИНАНСОВАЯ ЧАСТЬ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94944"/>
            <a:ext cx="959479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C2447"/>
                </a:solidFill>
                <a:latin typeface="Unbounded"/>
              </a:rPr>
              <a:t>Что нужно и </a:t>
            </a:r>
            <a:r>
              <a:rPr sz="2700" b="1" i="0">
                <a:solidFill>
                  <a:srgbClr val="1B4BA9"/>
                </a:solidFill>
                <a:latin typeface="Unbounded"/>
              </a:rPr>
              <a:t>откуда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1517904"/>
            <a:ext cx="4113515" cy="365760"/>
          </a:xfrm>
          <a:prstGeom prst="rect">
            <a:avLst/>
          </a:prstGeom>
          <a:solidFill>
            <a:srgbClr val="1C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73152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Unbounded"/>
              </a:rPr>
              <a:t>Статья расходов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0443" y="1517904"/>
            <a:ext cx="2521188" cy="365760"/>
          </a:xfrm>
          <a:prstGeom prst="rect">
            <a:avLst/>
          </a:prstGeom>
          <a:solidFill>
            <a:srgbClr val="1C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146304" tIns="0" bIns="0"/>
          <a:lstStyle/>
          <a:p>
            <a:pPr algn="r"/>
            <a:r>
              <a:rPr sz="800" b="1">
                <a:solidFill>
                  <a:srgbClr val="FDFCF8"/>
                </a:solidFill>
                <a:latin typeface="Unbounded"/>
              </a:rPr>
              <a:t>Сумма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1883664"/>
            <a:ext cx="4113515" cy="420624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1938528"/>
            <a:ext cx="38940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i="0">
                <a:solidFill>
                  <a:srgbClr val="1C2447"/>
                </a:solidFill>
                <a:latin typeface="Rubik"/>
              </a:rPr>
              <a:t>Оплата труда основателя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112264"/>
            <a:ext cx="38940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 i="0">
                <a:solidFill>
                  <a:srgbClr val="5A6180"/>
                </a:solidFill>
                <a:latin typeface="JetBrains Mono"/>
              </a:rPr>
              <a:t>200 000 ₸ × 6 мес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0443" y="1883664"/>
            <a:ext cx="2521188" cy="420624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0443" y="2002536"/>
            <a:ext cx="23748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JetBrains Mono"/>
              </a:rPr>
              <a:t>1 200 000 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304288"/>
            <a:ext cx="4113515" cy="420624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2359152"/>
            <a:ext cx="38940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i="0">
                <a:solidFill>
                  <a:srgbClr val="1C2447"/>
                </a:solidFill>
                <a:latin typeface="Rubik"/>
              </a:rPr>
              <a:t>AI-модели и облачные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2532888"/>
            <a:ext cx="38940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 i="0">
                <a:solidFill>
                  <a:srgbClr val="5A6180"/>
                </a:solidFill>
                <a:latin typeface="JetBrains Mono"/>
              </a:rPr>
              <a:t>$1 000 · уже оплачено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80443" y="2304288"/>
            <a:ext cx="2521188" cy="420624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0443" y="2423160"/>
            <a:ext cx="23748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JetBrains Mono"/>
              </a:rPr>
              <a:t>530 000 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2724912"/>
            <a:ext cx="4113515" cy="420624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2843784"/>
            <a:ext cx="38940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i="0">
                <a:solidFill>
                  <a:srgbClr val="1C2447"/>
                </a:solidFill>
                <a:latin typeface="Rubik"/>
              </a:rPr>
              <a:t>Продвижение лендинга и первые установки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80443" y="2724912"/>
            <a:ext cx="2521188" cy="420624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80443" y="2843784"/>
            <a:ext cx="23748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JetBrains Mono"/>
              </a:rPr>
              <a:t>250 000 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3145536"/>
            <a:ext cx="4113515" cy="420624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264408"/>
            <a:ext cx="38940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i="0">
                <a:solidFill>
                  <a:srgbClr val="1C2447"/>
                </a:solidFill>
                <a:latin typeface="Rubik"/>
              </a:rPr>
              <a:t>Домен, хостинг и аналитика лендинга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80443" y="3145536"/>
            <a:ext cx="2521188" cy="420624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80443" y="3264408"/>
            <a:ext cx="23748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JetBrains Mono"/>
              </a:rPr>
              <a:t>60 000 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566160"/>
            <a:ext cx="4113515" cy="420624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" y="3621024"/>
            <a:ext cx="38940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i="0">
                <a:solidFill>
                  <a:srgbClr val="1C2447"/>
                </a:solidFill>
                <a:latin typeface="Rubik"/>
              </a:rPr>
              <a:t>Apple Developer Program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" y="3794760"/>
            <a:ext cx="38940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 i="0">
                <a:solidFill>
                  <a:srgbClr val="5A6180"/>
                </a:solidFill>
                <a:latin typeface="JetBrains Mono"/>
              </a:rPr>
              <a:t>$99 в год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80443" y="3566160"/>
            <a:ext cx="2521188" cy="420624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80443" y="3685032"/>
            <a:ext cx="23748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JetBrains Mono"/>
              </a:rPr>
              <a:t>54 000 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3986784"/>
            <a:ext cx="4113515" cy="420624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3232" y="4105656"/>
            <a:ext cx="38940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i="0">
                <a:solidFill>
                  <a:srgbClr val="1C2447"/>
                </a:solidFill>
                <a:latin typeface="Rubik"/>
              </a:rPr>
              <a:t>Резерв на непредвиденные расходы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80443" y="3986784"/>
            <a:ext cx="2521188" cy="420624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80443" y="4105656"/>
            <a:ext cx="23748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JetBrains Mono"/>
              </a:rPr>
              <a:t>106 000 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4407408"/>
            <a:ext cx="6634703" cy="420624"/>
          </a:xfrm>
          <a:prstGeom prst="rect">
            <a:avLst/>
          </a:prstGeom>
          <a:solidFill>
            <a:srgbClr val="1C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3232" y="4526280"/>
            <a:ext cx="38940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Unbounded"/>
              </a:rPr>
              <a:t>Итого на 6 месяцев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80443" y="4526280"/>
            <a:ext cx="23748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Unbounded"/>
              </a:rPr>
              <a:t>2 200 000 ₸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1517904"/>
            <a:ext cx="6634703" cy="3310128"/>
          </a:xfrm>
          <a:prstGeom prst="rect">
            <a:avLst/>
          </a:prstGeom>
          <a:noFill/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384511" y="1517904"/>
            <a:ext cx="4240256" cy="1920240"/>
          </a:xfrm>
          <a:prstGeom prst="roundRect">
            <a:avLst>
              <a:gd name="adj" fmla="val 9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640543" y="1755648"/>
            <a:ext cx="384048" cy="384048"/>
          </a:xfrm>
          <a:prstGeom prst="roundRect">
            <a:avLst>
              <a:gd name="adj" fmla="val 16000"/>
            </a:avLst>
          </a:prstGeom>
          <a:solidFill>
            <a:srgbClr val="FDFCF8"/>
          </a:solidFill>
          <a:ln w="28575">
            <a:solidFill>
              <a:srgbClr val="FDF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B4BA9"/>
                </a:solidFill>
                <a:latin typeface="Unbounded"/>
              </a:rPr>
              <a:t>$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40543" y="2304288"/>
            <a:ext cx="37281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50" b="1" i="0">
                <a:solidFill>
                  <a:srgbClr val="FDFCF8"/>
                </a:solidFill>
                <a:latin typeface="JetBrains Mono"/>
              </a:rPr>
              <a:t>ЗАПРАШИВАЕМАЯ СУММА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40543" y="2542032"/>
            <a:ext cx="372819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FDFCF8"/>
                </a:solidFill>
                <a:latin typeface="Unbounded"/>
              </a:rPr>
              <a:t>$10 000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40543" y="2999232"/>
            <a:ext cx="3728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850" b="0" i="0">
                <a:solidFill>
                  <a:srgbClr val="FDFCF8"/>
                </a:solidFill>
                <a:latin typeface="Rubik"/>
              </a:rPr>
              <a:t>Грант GitHub для стартапов — на AI-модели и вывод лендинга на рынок. Это около 5 300 000 ₸: смета покрывается с запасом.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384511" y="3657600"/>
            <a:ext cx="4240256" cy="1920240"/>
          </a:xfrm>
          <a:prstGeom prst="roundRect">
            <a:avLst>
              <a:gd name="adj" fmla="val 9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40543" y="3895344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23423" y="3895344"/>
            <a:ext cx="35453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Rubik"/>
              </a:rPr>
              <a:t>Инвестиции сейчас не привлекаем. </a:t>
            </a:r>
            <a:r>
              <a:rPr sz="800" b="0" i="0">
                <a:solidFill>
                  <a:srgbClr val="5A6180"/>
                </a:solidFill>
                <a:latin typeface="Rubik"/>
              </a:rPr>
              <a:t>Призовой фонд PIZZA PITCH — 150 000 ₸; приз закрывает домен и продвижение.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40543" y="4462272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23423" y="4462272"/>
            <a:ext cx="35453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Rubik"/>
              </a:rPr>
              <a:t>Уже вложено. </a:t>
            </a:r>
            <a:r>
              <a:rPr sz="800" b="0" i="0">
                <a:solidFill>
                  <a:srgbClr val="5A6180"/>
                </a:solidFill>
                <a:latin typeface="Rubik"/>
              </a:rPr>
              <a:t>Продукт 2.0, открытый код и подписка на топовые AI-модели на 6 месяцев — $1 000.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40543" y="5029200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23423" y="5029200"/>
            <a:ext cx="35453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Rubik"/>
              </a:rPr>
              <a:t>Возвратность. </a:t>
            </a:r>
            <a:r>
              <a:rPr sz="800" b="0" i="0">
                <a:solidFill>
                  <a:srgbClr val="5A6180"/>
                </a:solidFill>
                <a:latin typeface="Rubik"/>
              </a:rPr>
              <a:t>WhisperFly Pro — с Q2 2027; себестоимость распознавания — центы на пользователя.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240719" y="310896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08/09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29184"/>
            <a:ext cx="819301" cy="292608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JetBrains Mono"/>
              </a:rPr>
              <a:t>КОМАНДА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94944"/>
            <a:ext cx="959479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C2447"/>
                </a:solidFill>
                <a:latin typeface="Unbounded"/>
              </a:rPr>
              <a:t>Весь стек </a:t>
            </a:r>
            <a:r>
              <a:rPr sz="2700" b="1" i="0">
                <a:solidFill>
                  <a:srgbClr val="1B4BA9"/>
                </a:solidFill>
                <a:latin typeface="Unbounded"/>
              </a:rPr>
              <a:t>в одних руках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1481328"/>
            <a:ext cx="3564026" cy="2798064"/>
          </a:xfrm>
          <a:prstGeom prst="roundRect">
            <a:avLst>
              <a:gd name="adj" fmla="val 9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955749" y="1755648"/>
            <a:ext cx="786384" cy="786384"/>
          </a:xfrm>
          <a:prstGeom prst="ellipse">
            <a:avLst/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DFCF8"/>
                </a:solidFill>
                <a:latin typeface="Unbounded"/>
              </a:rPr>
              <a:t>ДБ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706624"/>
            <a:ext cx="356402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C2447"/>
                </a:solidFill>
                <a:latin typeface="Unbounded"/>
              </a:rPr>
              <a:t>Даниил Бурыкин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054096"/>
            <a:ext cx="323484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750" b="1" i="0">
                <a:solidFill>
                  <a:srgbClr val="5A6180"/>
                </a:solidFill>
                <a:latin typeface="JetBrains Mono"/>
              </a:rPr>
              <a:t>ОСНОВАТЕЛЬ · РАЗРАБОТКА · ПРОДУКТ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3438144"/>
            <a:ext cx="308853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850" b="0" i="0">
                <a:solidFill>
                  <a:srgbClr val="5A6180"/>
                </a:solidFill>
                <a:latin typeface="Rubik"/>
              </a:rPr>
              <a:t>Полный цикл: архитектура на Swift, интерфейс, конвейер распознавания, сборки, релизы и дистрибуция.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3834" y="1481328"/>
            <a:ext cx="3564026" cy="2798064"/>
          </a:xfrm>
          <a:prstGeom prst="roundRect">
            <a:avLst>
              <a:gd name="adj" fmla="val 9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02655" y="1755648"/>
            <a:ext cx="786384" cy="786384"/>
          </a:xfrm>
          <a:prstGeom prst="ellipse">
            <a:avLst/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A9E56"/>
                </a:solidFill>
                <a:latin typeface="Unbounded"/>
              </a:rPr>
              <a:t>&lt;&gt;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3834" y="2706624"/>
            <a:ext cx="356402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C2447"/>
                </a:solidFill>
                <a:latin typeface="Unbounded"/>
              </a:rPr>
              <a:t>Открытое сообщество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8426" y="3054096"/>
            <a:ext cx="323484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750" b="1" i="0">
                <a:solidFill>
                  <a:srgbClr val="1C2447"/>
                </a:solidFill>
                <a:latin typeface="JetBrains Mono"/>
              </a:rPr>
              <a:t>КОНТРИБЬЮТОРЫ · ТЕСТИРОВАНИЕ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1578" y="3438144"/>
            <a:ext cx="308853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850" b="0" i="0">
                <a:solidFill>
                  <a:srgbClr val="1C2447"/>
                </a:solidFill>
                <a:latin typeface="Rubik"/>
              </a:rPr>
              <a:t>Репозиторий на GitHub открыт: вклад в код, переводы интерфейса и сообщения об ошибках приветствуются.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1481328"/>
            <a:ext cx="3564026" cy="2798064"/>
          </a:xfrm>
          <a:prstGeom prst="roundRect">
            <a:avLst>
              <a:gd name="adj" fmla="val 9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449561" y="1755648"/>
            <a:ext cx="786384" cy="786384"/>
          </a:xfrm>
          <a:prstGeom prst="ellipse">
            <a:avLst/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DFCF8"/>
                </a:solidFill>
                <a:latin typeface="Unbounded"/>
              </a:rPr>
              <a:t>HK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60740" y="2706624"/>
            <a:ext cx="356402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C2447"/>
                </a:solidFill>
                <a:latin typeface="Unbounded"/>
              </a:rPr>
              <a:t>hukopo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5332" y="3054096"/>
            <a:ext cx="323484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750" b="1" i="0">
                <a:solidFill>
                  <a:srgbClr val="5A6180"/>
                </a:solidFill>
                <a:latin typeface="JetBrains Mono"/>
              </a:rPr>
              <a:t>АВТОР ОСНОВЫ ПРОЕКТА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8484" y="3438144"/>
            <a:ext cx="308853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850" b="0" i="0">
                <a:solidFill>
                  <a:srgbClr val="5A6180"/>
                </a:solidFill>
                <a:latin typeface="Rubik"/>
              </a:rPr>
              <a:t>Автор qwenwishper — проекта, из которого вырос WhisperFly; его код стал отправной точкой разработки.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443984"/>
            <a:ext cx="11057839" cy="1517904"/>
          </a:xfrm>
          <a:prstGeom prst="roundRect">
            <a:avLst>
              <a:gd name="adj" fmla="val 9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4626864"/>
            <a:ext cx="105823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5A6180"/>
                </a:solidFill>
                <a:latin typeface="JetBrains Mono"/>
              </a:rPr>
              <a:t>РОЛЬ КАЖДОГО В РЕАЛИЗАЦИИ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" y="4919472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" y="4919472"/>
            <a:ext cx="313730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Основатель </a:t>
            </a:r>
            <a:r>
              <a:rPr sz="850" b="0" i="0">
                <a:solidFill>
                  <a:srgbClr val="5A6180"/>
                </a:solidFill>
                <a:latin typeface="Rubik"/>
              </a:rPr>
              <a:t>— ведёт разработку, отвечает за продукт, релизы и дистрибуцию, представляет проект.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5754" y="4919472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18634" y="4919472"/>
            <a:ext cx="313730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Сообщество </a:t>
            </a:r>
            <a:r>
              <a:rPr sz="850" b="0" i="0">
                <a:solidFill>
                  <a:srgbClr val="5A6180"/>
                </a:solidFill>
                <a:latin typeface="Rubik"/>
              </a:rPr>
              <a:t>— тестирование на разных конфигурациях, локализация интерфейса, обратная связь.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6836" y="4919472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9716" y="4919472"/>
            <a:ext cx="313730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Планируемые роли </a:t>
            </a:r>
            <a:r>
              <a:rPr sz="850" b="0" i="0">
                <a:solidFill>
                  <a:srgbClr val="5A6180"/>
                </a:solidFill>
                <a:latin typeface="Rubik"/>
              </a:rPr>
              <a:t>— продуктовый маркетинг и продажи: найм запланирован на Q2 2027 года.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240719" y="310896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09/09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29184"/>
            <a:ext cx="1060702" cy="292608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JetBrains Mono"/>
              </a:rPr>
              <a:t>ЗАКЛЮЧЕНИЕ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731520"/>
            <a:ext cx="106920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C2447"/>
                </a:solidFill>
                <a:latin typeface="Unbounded"/>
              </a:rPr>
              <a:t>Голос быстрее клавиатуры. Мы сделали это </a:t>
            </a:r>
            <a:r>
              <a:rPr sz="2500" b="1" i="0">
                <a:solidFill>
                  <a:srgbClr val="1B4BA9"/>
                </a:solidFill>
                <a:latin typeface="Unbounded"/>
              </a:rPr>
              <a:t>бесплатным</a:t>
            </a:r>
            <a:r>
              <a:rPr sz="2500" b="1" i="0">
                <a:solidFill>
                  <a:srgbClr val="1C2447"/>
                </a:solidFill>
                <a:latin typeface="Unbounded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700784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WhisperFly уже работает и уже бесплатен: голосовой ввод в любом приложении macOS, собственный код, открытый исходный код и ноль затрат для пользователя. Осталось превратить готовый продукт в устойчивую платформу — и вернуть региону миллионы сэкономленных часов.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2542032"/>
            <a:ext cx="3564026" cy="1920240"/>
          </a:xfrm>
          <a:prstGeom prst="roundRect">
            <a:avLst>
              <a:gd name="adj" fmla="val 9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2798064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C2447"/>
                </a:solidFill>
                <a:latin typeface="Unbounded"/>
              </a:rPr>
              <a:t>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383280"/>
            <a:ext cx="305196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50" b="1" i="0">
                <a:solidFill>
                  <a:srgbClr val="1C2447"/>
                </a:solidFill>
                <a:latin typeface="Unbounded"/>
              </a:rPr>
              <a:t>УЖЕ РАБОТАЕТ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767328"/>
            <a:ext cx="305196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i="0">
                <a:solidFill>
                  <a:srgbClr val="5A6180"/>
                </a:solidFill>
                <a:latin typeface="Rubik"/>
              </a:rPr>
              <a:t>Версия 2.0 выпущена: системный звук, транскрипция файлов, история и 11 языков интерфейса.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3834" y="2542032"/>
            <a:ext cx="3564026" cy="1920240"/>
          </a:xfrm>
          <a:prstGeom prst="roundRect">
            <a:avLst>
              <a:gd name="adj" fmla="val 9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69866" y="2798064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C2447"/>
                </a:solidFill>
                <a:latin typeface="Unbounded"/>
              </a:rPr>
              <a:t>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9866" y="3383280"/>
            <a:ext cx="305196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50" b="1" i="0">
                <a:solidFill>
                  <a:srgbClr val="1C2447"/>
                </a:solidFill>
                <a:latin typeface="Unbounded"/>
              </a:rPr>
              <a:t>БЕСПЛАТНО И ОТКРЫТО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9866" y="3767328"/>
            <a:ext cx="305196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i="0">
                <a:solidFill>
                  <a:srgbClr val="5A6180"/>
                </a:solidFill>
                <a:latin typeface="Rubik"/>
              </a:rPr>
              <a:t>Ни подписки, ни локальных моделей, ни закрытых исходников — продукт можно проверить и собрать самому.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0740" y="2542032"/>
            <a:ext cx="3564026" cy="1920240"/>
          </a:xfrm>
          <a:prstGeom prst="roundRect">
            <a:avLst>
              <a:gd name="adj" fmla="val 9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316772" y="2798064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C2447"/>
                </a:solidFill>
                <a:latin typeface="Unbounded"/>
              </a:rPr>
              <a:t>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6772" y="3383280"/>
            <a:ext cx="305196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50" b="1" i="0">
                <a:solidFill>
                  <a:srgbClr val="1C2447"/>
                </a:solidFill>
                <a:latin typeface="Unbounded"/>
              </a:rPr>
              <a:t>ЭФФЕКТ ДЛЯ РЕГИОНА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6772" y="3767328"/>
            <a:ext cx="305196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i="0">
                <a:solidFill>
                  <a:srgbClr val="5A6180"/>
                </a:solidFill>
                <a:latin typeface="Rubik"/>
              </a:rPr>
              <a:t>0,7 млн человеко-часов в год, бесплатный доступ для образования и малого бизнеса, рабочие места в 2027 году.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791456"/>
            <a:ext cx="2029968" cy="457200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DFCF8"/>
                </a:solidFill>
                <a:latin typeface="Unbounded"/>
              </a:rPr>
              <a:t>САЙТ ПРЕЗЕНТАЦИИ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0" y="4791456"/>
            <a:ext cx="2125980" cy="45720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1C2447"/>
                </a:solidFill>
                <a:latin typeface="Unbounded"/>
              </a:rPr>
              <a:t>СКАЧАТЬ БЕСПЛАТНО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15484" y="4791456"/>
            <a:ext cx="1069848" cy="45720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1C2447"/>
                </a:solidFill>
                <a:latin typeface="Unbounded"/>
              </a:rPr>
              <a:t>GITHUB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504688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5A6180"/>
                </a:solidFill>
                <a:latin typeface="JetBrains Mono"/>
              </a:rPr>
              <a:t>ОТКРЫТЫЙ ИСХОДНЫЙ КОД · MACOS 14+ · 11 ЯЗЫКОВ ИНТЕРФЕЙСА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