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55183" y="566928"/>
            <a:ext cx="1481328" cy="1481328"/>
          </a:xfrm>
          <a:prstGeom prst="ellipse">
            <a:avLst/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00" b="1">
                <a:solidFill>
                  <a:srgbClr val="FDFCF8"/>
                </a:solidFill>
                <a:latin typeface="Unbounded"/>
              </a:rPr>
              <a:t>WF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395728"/>
            <a:ext cx="1082009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0" b="1" i="0">
                <a:solidFill>
                  <a:srgbClr val="1C2447"/>
                </a:solidFill>
                <a:latin typeface="Unbounded"/>
              </a:rPr>
              <a:t>WHISPER</a:t>
            </a:r>
            <a:r>
              <a:rPr sz="6200" b="1" i="0">
                <a:solidFill>
                  <a:srgbClr val="1B4BA9"/>
                </a:solidFill>
                <a:latin typeface="Unbounded"/>
              </a:rPr>
              <a:t>FLY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3950208"/>
            <a:ext cx="780257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5A6180"/>
                </a:solidFill>
                <a:latin typeface="Rubik"/>
              </a:rPr>
              <a:t>Диктовка нажатием клавиши для macOS. Голос — в текст: мгновенно, в любом приложении и без единого тенге за подписку.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2221" y="5138928"/>
            <a:ext cx="2110416" cy="329184"/>
          </a:xfrm>
          <a:prstGeom prst="roundRect">
            <a:avLst>
              <a:gd name="adj" fmla="val 50000"/>
            </a:avLst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КОНКУРС СТАРТАПОВ · 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82365" y="5138928"/>
            <a:ext cx="985716" cy="329184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MACOS 14+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7809" y="5138928"/>
            <a:ext cx="985716" cy="329184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10 ЯЗЫКОВ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73253" y="5138928"/>
            <a:ext cx="1210656" cy="329184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ОТКРЫТЫЙ КОД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93637" y="5138928"/>
            <a:ext cx="535836" cy="329184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0 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0624"/>
            <a:ext cx="1042416" cy="329184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FDFCF8"/>
                </a:solidFill>
                <a:latin typeface="JetBrains Mono"/>
              </a:rPr>
              <a:t>ПРОБЛЕМА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C2447"/>
                </a:solidFill>
                <a:latin typeface="Unbounded"/>
              </a:rPr>
              <a:t>Печатать — </a:t>
            </a:r>
            <a:r>
              <a:rPr sz="3000" b="1" i="0">
                <a:solidFill>
                  <a:srgbClr val="1B4BA9"/>
                </a:solidFill>
                <a:latin typeface="Unbounded"/>
              </a:rPr>
              <a:t>в 4 раза медленнее</a:t>
            </a:r>
            <a:r>
              <a:rPr sz="3000" b="1" i="0">
                <a:solidFill>
                  <a:srgbClr val="1C2447"/>
                </a:solidFill>
                <a:latin typeface="Unbounded"/>
              </a:rPr>
              <a:t>, чем говорить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1517904"/>
            <a:ext cx="97228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5A6180"/>
                </a:solidFill>
                <a:latin typeface="Rubik"/>
              </a:rPr>
              <a:t>Мы думаем со скоростью речи, но вводим текст со скоростью клавиатуры. Разрыв между мыслью и набором съедает часы рабочего времени каждый день — и почти все существующие решения просят за это ежемесячную подписку.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2130552"/>
            <a:ext cx="2554147" cy="2423160"/>
          </a:xfrm>
          <a:prstGeom prst="roundRect">
            <a:avLst>
              <a:gd name="adj" fmla="val 11000"/>
            </a:avLst>
          </a:prstGeom>
          <a:solidFill>
            <a:srgbClr val="1C2447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2459736"/>
            <a:ext cx="2042083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DFCF8"/>
                </a:solidFill>
                <a:latin typeface="Unbounded"/>
              </a:rPr>
              <a:t>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3008376"/>
            <a:ext cx="20420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FDFCF8"/>
                </a:solidFill>
                <a:latin typeface="JetBrains Mono"/>
              </a:rPr>
              <a:t>СЛОВ В МИНУТУ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" y="3611880"/>
            <a:ext cx="204208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FDFCF8"/>
                </a:solidFill>
                <a:latin typeface="Rubik"/>
              </a:rPr>
              <a:t>Средняя скорость набора на клавиатуре у офисного сотрудника.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41115" y="2130552"/>
            <a:ext cx="2554147" cy="2423160"/>
          </a:xfrm>
          <a:prstGeom prst="roundRect">
            <a:avLst>
              <a:gd name="adj" fmla="val 11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97147" y="2459736"/>
            <a:ext cx="2042083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DFCF8"/>
                </a:solidFill>
                <a:latin typeface="Unbounded"/>
              </a:rPr>
              <a:t>150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97147" y="3008376"/>
            <a:ext cx="20420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FDFCF8"/>
                </a:solidFill>
                <a:latin typeface="JetBrains Mono"/>
              </a:rPr>
              <a:t>СЛОВ В МИНУТУ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97147" y="3611880"/>
            <a:ext cx="204208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FDFCF8"/>
                </a:solidFill>
                <a:latin typeface="Rubik"/>
              </a:rPr>
              <a:t>Средняя скорость речи. Почти в четыре раза быстрее набора.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6430" y="2130552"/>
            <a:ext cx="2554147" cy="2423160"/>
          </a:xfrm>
          <a:prstGeom prst="roundRect">
            <a:avLst>
              <a:gd name="adj" fmla="val 11000"/>
            </a:avLst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52462" y="2459736"/>
            <a:ext cx="2042083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C2447"/>
                </a:solidFill>
                <a:latin typeface="Unbounded"/>
              </a:rPr>
              <a:t>≈ 3 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52462" y="3008376"/>
            <a:ext cx="20420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1C2447"/>
                </a:solidFill>
                <a:latin typeface="JetBrains Mono"/>
              </a:rPr>
              <a:t>В ДЕНЬ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2462" y="3611880"/>
            <a:ext cx="204208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1C2447"/>
                </a:solidFill>
                <a:latin typeface="Rubik"/>
              </a:rPr>
              <a:t>Уходит у человека, работа которого — текст: письма, заметки, документы, код.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51745" y="2130552"/>
            <a:ext cx="2554147" cy="2423160"/>
          </a:xfrm>
          <a:prstGeom prst="roundRect">
            <a:avLst>
              <a:gd name="adj" fmla="val 11000"/>
            </a:avLst>
          </a:prstGeom>
          <a:solidFill>
            <a:srgbClr val="1C2447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07777" y="2459736"/>
            <a:ext cx="2042083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DFCF8"/>
                </a:solidFill>
                <a:latin typeface="Unbounded"/>
              </a:rPr>
              <a:t>$15–30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07777" y="3008376"/>
            <a:ext cx="20420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FDFCF8"/>
                </a:solidFill>
                <a:latin typeface="JetBrains Mono"/>
              </a:rPr>
              <a:t>В МЕСЯЦ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07777" y="3611880"/>
            <a:ext cx="204208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FDFCF8"/>
                </a:solidFill>
                <a:latin typeface="Rubik"/>
              </a:rPr>
              <a:t>Стоит подписка на существующие приложения для диктовки.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0624"/>
            <a:ext cx="946404" cy="329184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FDFCF8"/>
                </a:solidFill>
                <a:latin typeface="JetBrains Mono"/>
              </a:rPr>
              <a:t>РЕШЕНИЕ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C2447"/>
                </a:solidFill>
                <a:latin typeface="Unbounded"/>
              </a:rPr>
              <a:t>Нажал. </a:t>
            </a:r>
            <a:r>
              <a:rPr sz="3000" b="1" i="0">
                <a:solidFill>
                  <a:srgbClr val="1B4BA9"/>
                </a:solidFill>
                <a:latin typeface="Unbounded"/>
              </a:rPr>
              <a:t>Сказал.</a:t>
            </a:r>
            <a:r>
              <a:rPr sz="3000" b="1" i="0">
                <a:solidFill>
                  <a:srgbClr val="1C2447"/>
                </a:solidFill>
                <a:latin typeface="Unbounded"/>
              </a:rPr>
              <a:t> Готово.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1517904"/>
            <a:ext cx="97228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5A6180"/>
                </a:solidFill>
                <a:latin typeface="Rubik"/>
              </a:rPr>
              <a:t>WhisperFly превращает речь в текст в любой программе macOS — по одному нажатию ⌘⇧Space. Без подписки, без загрузки моделей и без требований к железу.</a:t>
            </a:r>
          </a:p>
        </p:txBody>
      </p:sp>
      <p:sp>
        <p:nvSpPr>
          <p:cNvPr id="19" name="Oval 18"/>
          <p:cNvSpPr/>
          <p:nvPr/>
        </p:nvSpPr>
        <p:spPr>
          <a:xfrm>
            <a:off x="685800" y="2084832"/>
            <a:ext cx="420624" cy="420624"/>
          </a:xfrm>
          <a:prstGeom prst="ellipse">
            <a:avLst/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C2447"/>
                </a:solidFill>
                <a:latin typeface="JetBrains Mono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048256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50" b="1" i="0">
                <a:solidFill>
                  <a:srgbClr val="1C2447"/>
                </a:solidFill>
                <a:latin typeface="Rubik"/>
              </a:rPr>
              <a:t>Одной клавишей. </a:t>
            </a:r>
            <a:r>
              <a:rPr sz="1050" b="0" i="0">
                <a:solidFill>
                  <a:srgbClr val="5A6180"/>
                </a:solidFill>
                <a:latin typeface="Rubik"/>
              </a:rPr>
              <a:t>Глобальное сочетание ⌘⇧Space запускает и останавливает запись из любого приложения.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3145536"/>
            <a:ext cx="420624" cy="420624"/>
          </a:xfrm>
          <a:prstGeom prst="ellipse">
            <a:avLst/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C2447"/>
                </a:solidFill>
                <a:latin typeface="JetBrains Mono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3108960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50" b="1" i="0">
                <a:solidFill>
                  <a:srgbClr val="1C2447"/>
                </a:solidFill>
                <a:latin typeface="Rubik"/>
              </a:rPr>
              <a:t>Текст там, где курсор. </a:t>
            </a:r>
            <a:r>
              <a:rPr sz="1050" b="0" i="0">
                <a:solidFill>
                  <a:srgbClr val="5A6180"/>
                </a:solidFill>
                <a:latin typeface="Rubik"/>
              </a:rPr>
              <a:t>Вставка через Accessibility API, при отказе — надёжный откат на буфер обмена.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4206240"/>
            <a:ext cx="420624" cy="420624"/>
          </a:xfrm>
          <a:prstGeom prst="ellipse">
            <a:avLst/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C2447"/>
                </a:solidFill>
                <a:latin typeface="JetBrains Mono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4169664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50" b="1" i="0">
                <a:solidFill>
                  <a:srgbClr val="1C2447"/>
                </a:solidFill>
                <a:latin typeface="Rubik"/>
              </a:rPr>
              <a:t>Ноль локальных моделей. </a:t>
            </a:r>
            <a:r>
              <a:rPr sz="1050" b="0" i="0">
                <a:solidFill>
                  <a:srgbClr val="5A6180"/>
                </a:solidFill>
                <a:latin typeface="Rubik"/>
              </a:rPr>
              <a:t>Распознавание идёт в облаке: не нужен GPU и гигабайты загрузок.</a:t>
            </a:r>
          </a:p>
        </p:txBody>
      </p:sp>
      <p:sp>
        <p:nvSpPr>
          <p:cNvPr id="25" name="Oval 24"/>
          <p:cNvSpPr/>
          <p:nvPr/>
        </p:nvSpPr>
        <p:spPr>
          <a:xfrm>
            <a:off x="685800" y="5266944"/>
            <a:ext cx="420624" cy="420624"/>
          </a:xfrm>
          <a:prstGeom prst="ellipse">
            <a:avLst/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C2447"/>
                </a:solidFill>
                <a:latin typeface="JetBrains Mono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5230368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50" b="1" i="0">
                <a:solidFill>
                  <a:srgbClr val="1C2447"/>
                </a:solidFill>
                <a:latin typeface="Rubik"/>
              </a:rPr>
              <a:t>Бесплатно. </a:t>
            </a:r>
            <a:r>
              <a:rPr sz="1050" b="0" i="0">
                <a:solidFill>
                  <a:srgbClr val="5A6180"/>
                </a:solidFill>
                <a:latin typeface="Rubik"/>
              </a:rPr>
              <a:t>Оба движка распознавания работают на бесплатных тарифах провайдеров.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96328" y="1810512"/>
            <a:ext cx="4309567" cy="3931920"/>
          </a:xfrm>
          <a:prstGeom prst="roundRect">
            <a:avLst>
              <a:gd name="adj" fmla="val 11000"/>
            </a:avLst>
          </a:prstGeom>
          <a:solidFill>
            <a:srgbClr val="1C2447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2313432"/>
            <a:ext cx="36511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FA9E56"/>
                </a:solidFill>
                <a:latin typeface="Unbounded"/>
              </a:rPr>
              <a:t>⌘⇧Space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3227832"/>
            <a:ext cx="36511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E5E1D4"/>
                </a:solidFill>
                <a:latin typeface="JetBrains Mono"/>
              </a:rPr>
              <a:t>ОДНО СОЧЕТАНИЕ НА ВСЁ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822192"/>
            <a:ext cx="365119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0" i="0">
                <a:solidFill>
                  <a:srgbClr val="E5E1D4"/>
                </a:solidFill>
                <a:latin typeface="Rubik"/>
              </a:rPr>
              <a:t>Нажать — сказать — отпустить. Результат появляется в поле ввода за считанные секунды.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0624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FDFCF8"/>
                </a:solidFill>
                <a:latin typeface="JetBrains Mono"/>
              </a:rPr>
              <a:t>КАК ЭТО РАБОТАЕТ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C2447"/>
                </a:solidFill>
                <a:latin typeface="Unbounded"/>
              </a:rPr>
              <a:t>Пять шагов за </a:t>
            </a:r>
            <a:r>
              <a:rPr sz="3000" b="1" i="0">
                <a:solidFill>
                  <a:srgbClr val="1B4BA9"/>
                </a:solidFill>
                <a:latin typeface="Unbounded"/>
              </a:rPr>
              <a:t>секунды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1517904"/>
            <a:ext cx="97228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5A6180"/>
                </a:solidFill>
                <a:latin typeface="Rubik"/>
              </a:rPr>
              <a:t>От нажатия клавиши до готового текста в поле ввода — один короткий конвейер.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2221992"/>
            <a:ext cx="2164019" cy="3063240"/>
          </a:xfrm>
          <a:prstGeom prst="roundRect">
            <a:avLst>
              <a:gd name="adj" fmla="val 16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" y="2496312"/>
            <a:ext cx="16885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JetBrains Mono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" y="2880360"/>
            <a:ext cx="168853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C2447"/>
                </a:solidFill>
                <a:latin typeface="Unbounded"/>
              </a:rPr>
              <a:t>ЗАПИСЬ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" y="3703320"/>
            <a:ext cx="1688531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A6180"/>
                </a:solidFill>
                <a:latin typeface="Rubik"/>
              </a:rPr>
              <a:t>AVFoundation пишет микрофон. ScreenCaptureKit — всё, что звучит на Mac.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49819" y="2221992"/>
            <a:ext cx="2164019" cy="3063240"/>
          </a:xfrm>
          <a:prstGeom prst="roundRect">
            <a:avLst>
              <a:gd name="adj" fmla="val 6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563" y="2496312"/>
            <a:ext cx="16885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JetBrains Mono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87563" y="2880360"/>
            <a:ext cx="168853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C2447"/>
                </a:solidFill>
                <a:latin typeface="Unbounded"/>
              </a:rPr>
              <a:t>КОНВЕРТАЦИЯ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87563" y="3703320"/>
            <a:ext cx="1688531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A6180"/>
                </a:solidFill>
                <a:latin typeface="Rubik"/>
              </a:rPr>
              <a:t>Аудио приводится к WAV 16 кГц — формату, который понимает движок.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13838" y="2221992"/>
            <a:ext cx="2164019" cy="3063240"/>
          </a:xfrm>
          <a:prstGeom prst="roundRect">
            <a:avLst>
              <a:gd name="adj" fmla="val 6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51582" y="2496312"/>
            <a:ext cx="16885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JetBrains Mono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1582" y="2880360"/>
            <a:ext cx="168853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C2447"/>
                </a:solidFill>
                <a:latin typeface="Unbounded"/>
              </a:rPr>
              <a:t>РАСПОЗНАВАНИЕ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1582" y="3703320"/>
            <a:ext cx="1688531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A6180"/>
                </a:solidFill>
                <a:latin typeface="Rubik"/>
              </a:rPr>
              <a:t>Groq Whisper Large V3 или Google Gemini 2.5 Flash. Более 100 языков.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77857" y="2221992"/>
            <a:ext cx="2164019" cy="3063240"/>
          </a:xfrm>
          <a:prstGeom prst="roundRect">
            <a:avLst>
              <a:gd name="adj" fmla="val 6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15601" y="2496312"/>
            <a:ext cx="16885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JetBrains Mono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15601" y="2880360"/>
            <a:ext cx="168853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C2447"/>
                </a:solidFill>
                <a:latin typeface="Unbounded"/>
              </a:rPr>
              <a:t>ОБРАБОТКА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15601" y="3703320"/>
            <a:ext cx="1688531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A6180"/>
                </a:solidFill>
                <a:latin typeface="Rubik"/>
              </a:rPr>
              <a:t>Необязательная AI-переформулировка: грамматика, пунктуация, перевод.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41876" y="2221992"/>
            <a:ext cx="2164019" cy="3063240"/>
          </a:xfrm>
          <a:prstGeom prst="roundRect">
            <a:avLst>
              <a:gd name="adj" fmla="val 16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79620" y="2496312"/>
            <a:ext cx="16885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JetBrains Mono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79620" y="2880360"/>
            <a:ext cx="168853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C2447"/>
                </a:solidFill>
                <a:latin typeface="Unbounded"/>
              </a:rPr>
              <a:t>ВСТАВКА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79620" y="3703320"/>
            <a:ext cx="1688531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A6180"/>
                </a:solidFill>
                <a:latin typeface="Rubik"/>
              </a:rPr>
              <a:t>Готовый текст появляется прямо в активном поле ввода.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6053328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5A6180"/>
                </a:solidFill>
                <a:latin typeface="Rubik"/>
              </a:rPr>
              <a:t>Временные аудиофайлы удаляются сразу после распознавания. Результат попадает в историю, его можно скопировать или озвучить системным голосом.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0624"/>
            <a:ext cx="1330452" cy="329184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FDFCF8"/>
                </a:solidFill>
                <a:latin typeface="JetBrains Mono"/>
              </a:rPr>
              <a:t>ВОЗМОЖНОСТИ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C2447"/>
                </a:solidFill>
                <a:latin typeface="Unbounded"/>
              </a:rPr>
              <a:t>Всё, что нужно для </a:t>
            </a:r>
            <a:r>
              <a:rPr sz="3000" b="1" i="0">
                <a:solidFill>
                  <a:srgbClr val="1B4BA9"/>
                </a:solidFill>
                <a:latin typeface="Unbounded"/>
              </a:rPr>
              <a:t>голосового ввода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1901952"/>
            <a:ext cx="3472586" cy="1874519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2139696"/>
            <a:ext cx="296052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250" b="1" i="0">
                <a:solidFill>
                  <a:srgbClr val="1C2447"/>
                </a:solidFill>
                <a:latin typeface="Unbounded"/>
              </a:rPr>
              <a:t>ДВА ИСТОЧНИКА ЗВУКА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2798064"/>
            <a:ext cx="296052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Микрофон или системный звук — транскрибируйте созвоны и видео прямо с дорожки Mac.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59554" y="1901952"/>
            <a:ext cx="3472586" cy="1874519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15586" y="2139696"/>
            <a:ext cx="296052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250" b="1" i="0">
                <a:solidFill>
                  <a:srgbClr val="1C2447"/>
                </a:solidFill>
                <a:latin typeface="Unbounded"/>
              </a:rPr>
              <a:t>ДВА БЕСПЛАТНЫХ ДВИЖКА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5586" y="2798064"/>
            <a:ext cx="296052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Groq Whisper Large V3 и Google Gemini 2.5 Flash через OpenRouter — оба на бесплатном тарифе.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33308" y="1901952"/>
            <a:ext cx="3472586" cy="1874519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89340" y="2139696"/>
            <a:ext cx="296052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250" b="1" i="0">
                <a:solidFill>
                  <a:srgbClr val="1C2447"/>
                </a:solidFill>
                <a:latin typeface="Unbounded"/>
              </a:rPr>
              <a:t>ТРАНСКРИПЦИЯ ФАЙЛОВ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9340" y="2798064"/>
            <a:ext cx="296052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MP3, M4A, WAV, FLAC, MP4, MOV — результат сразу уходит в буфер обмена.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3959352"/>
            <a:ext cx="3472586" cy="1874519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" y="4197096"/>
            <a:ext cx="296052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250" b="1" i="0">
                <a:solidFill>
                  <a:srgbClr val="1C2447"/>
                </a:solidFill>
                <a:latin typeface="Unbounded"/>
              </a:rPr>
              <a:t>AI-ПЕРЕФОРМУЛИРОВКА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" y="4855464"/>
            <a:ext cx="296052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Чистка грамматики, расстановка пунктуации или перевод на английский — одним переключателем.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59554" y="3959352"/>
            <a:ext cx="3472586" cy="1874519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15586" y="4197096"/>
            <a:ext cx="296052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250" b="1" i="0">
                <a:solidFill>
                  <a:srgbClr val="1C2447"/>
                </a:solidFill>
                <a:latin typeface="Unbounded"/>
              </a:rPr>
              <a:t>ИСТОРИЯ ТРАНСКРИПЦИЙ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5586" y="4855464"/>
            <a:ext cx="296052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Последние 100 результатов: просмотр, копирование и повторное открытие в отдельном окне.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33308" y="3959352"/>
            <a:ext cx="3472586" cy="1874519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89340" y="4197096"/>
            <a:ext cx="296052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250" b="1" i="0">
                <a:solidFill>
                  <a:srgbClr val="1C2447"/>
                </a:solidFill>
                <a:latin typeface="Unbounded"/>
              </a:rPr>
              <a:t>10 ЯЗЫКОВ ИНТЕРФЕЙСА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89340" y="4855464"/>
            <a:ext cx="296052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Русский, английский, немецкий, французский, испанский, японский, китайский, корейский, итальянский, хинди.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0624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FDFCF8"/>
                </a:solidFill>
                <a:latin typeface="JetBrains Mono"/>
              </a:rPr>
              <a:t>ТЕХНОЛОГИИ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C2447"/>
                </a:solidFill>
                <a:latin typeface="Unbounded"/>
              </a:rPr>
              <a:t>Нативный стек, </a:t>
            </a:r>
            <a:r>
              <a:rPr sz="3000" b="1" i="0">
                <a:solidFill>
                  <a:srgbClr val="1B4BA9"/>
                </a:solidFill>
                <a:latin typeface="Unbounded"/>
              </a:rPr>
              <a:t>без компромиссов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1572768"/>
            <a:ext cx="810157" cy="310896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Swift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96541" y="1572768"/>
            <a:ext cx="810157" cy="310896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SwiftUI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07282" y="1572768"/>
            <a:ext cx="738834" cy="310896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AppKit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46700" y="1572768"/>
            <a:ext cx="1452064" cy="310896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ScreenCaptureKit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99348" y="1572768"/>
            <a:ext cx="1166772" cy="310896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AVFoundation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66704" y="1572768"/>
            <a:ext cx="738834" cy="310896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Carbon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06122" y="1572768"/>
            <a:ext cx="881480" cy="310896"/>
          </a:xfrm>
          <a:prstGeom prst="roundRect">
            <a:avLst>
              <a:gd name="adj" fmla="val 50000"/>
            </a:avLst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Groq API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88186" y="1572768"/>
            <a:ext cx="1024126" cy="310896"/>
          </a:xfrm>
          <a:prstGeom prst="roundRect">
            <a:avLst>
              <a:gd name="adj" fmla="val 50000"/>
            </a:avLst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OpenRouter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2212848"/>
            <a:ext cx="6309360" cy="3611880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246888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300" b="1" i="0">
                <a:solidFill>
                  <a:srgbClr val="1C2447"/>
                </a:solidFill>
                <a:latin typeface="Unbounded"/>
              </a:rPr>
              <a:t>ПЯТЬ МОДУЛЕЙ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081528"/>
            <a:ext cx="1417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1C2447"/>
                </a:solidFill>
                <a:latin typeface="Unbounded"/>
              </a:rPr>
              <a:t>APP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80" y="3099816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Конвейер, плавающая панель, HUD-окна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3602735"/>
            <a:ext cx="1417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1C2447"/>
                </a:solidFill>
                <a:latin typeface="Unbounded"/>
              </a:rPr>
              <a:t>SERVICES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68880" y="3621023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Запись, конвертация, движки, хоткей, вставка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4123942"/>
            <a:ext cx="1417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1C2447"/>
                </a:solidFill>
                <a:latin typeface="Unbounded"/>
              </a:rPr>
              <a:t>CORE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68880" y="414223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Протоколы и статусы конвейера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4645149"/>
            <a:ext cx="1417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1C2447"/>
                </a:solidFill>
                <a:latin typeface="Unbounded"/>
              </a:rPr>
              <a:t>MODELS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68880" y="4663437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Настройки и хранилище истории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5166356"/>
            <a:ext cx="1417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1C2447"/>
                </a:solidFill>
                <a:latin typeface="Unbounded"/>
              </a:rPr>
              <a:t>VIEWS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18464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SwiftUI-интерфейс и строка меню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96328" y="2212848"/>
            <a:ext cx="2054199" cy="1737360"/>
          </a:xfrm>
          <a:prstGeom prst="roundRect">
            <a:avLst>
              <a:gd name="adj" fmla="val 11000"/>
            </a:avLst>
          </a:prstGeom>
          <a:solidFill>
            <a:srgbClr val="1C2447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34072" y="2596896"/>
            <a:ext cx="157871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FDFCF8"/>
                </a:solidFill>
                <a:latin typeface="Unbounded"/>
              </a:rPr>
              <a:t>3 000+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34072" y="3145536"/>
            <a:ext cx="157871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FDFCF8"/>
                </a:solidFill>
                <a:latin typeface="JetBrains Mono"/>
              </a:rPr>
              <a:t>СТРОК SWIFT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451695" y="2212848"/>
            <a:ext cx="2054199" cy="1737360"/>
          </a:xfrm>
          <a:prstGeom prst="roundRect">
            <a:avLst>
              <a:gd name="adj" fmla="val 11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89439" y="2596896"/>
            <a:ext cx="157871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FDFCF8"/>
                </a:solidFill>
                <a:latin typeface="Unbounded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89439" y="3145536"/>
            <a:ext cx="157871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FDFCF8"/>
                </a:solidFill>
                <a:latin typeface="JetBrains Mono"/>
              </a:rPr>
              <a:t>ЛОКАЛИЗАЦИЙ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196328" y="4151376"/>
            <a:ext cx="2054199" cy="1737360"/>
          </a:xfrm>
          <a:prstGeom prst="roundRect">
            <a:avLst>
              <a:gd name="adj" fmla="val 11000"/>
            </a:avLst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34072" y="4535424"/>
            <a:ext cx="157871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C2447"/>
                </a:solidFill>
                <a:latin typeface="Unbounded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34072" y="5084064"/>
            <a:ext cx="157871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1C2447"/>
                </a:solidFill>
                <a:latin typeface="JetBrains Mono"/>
              </a:rPr>
              <a:t>СБОРКИ DMG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451695" y="4151376"/>
            <a:ext cx="2054199" cy="1737360"/>
          </a:xfrm>
          <a:prstGeom prst="roundRect">
            <a:avLst>
              <a:gd name="adj" fmla="val 11000"/>
            </a:avLst>
          </a:prstGeom>
          <a:solidFill>
            <a:srgbClr val="1C2447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89439" y="4535424"/>
            <a:ext cx="157871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FDFCF8"/>
                </a:solidFill>
                <a:latin typeface="Unbounded"/>
              </a:rPr>
              <a:t>0 ГБ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89439" y="5084064"/>
            <a:ext cx="157871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FDFCF8"/>
                </a:solidFill>
                <a:latin typeface="JetBrains Mono"/>
              </a:rPr>
              <a:t>ЗАГРУЗОК МОДЕЛЕЙ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0624"/>
            <a:ext cx="754380" cy="329184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FDFCF8"/>
                </a:solidFill>
                <a:latin typeface="JetBrains Mono"/>
              </a:rPr>
              <a:t>РЫНОК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C2447"/>
                </a:solidFill>
                <a:latin typeface="Unbounded"/>
              </a:rPr>
              <a:t>Растущий рынок </a:t>
            </a:r>
            <a:r>
              <a:rPr sz="3000" b="1" i="0">
                <a:solidFill>
                  <a:srgbClr val="1B4BA9"/>
                </a:solidFill>
                <a:latin typeface="Unbounded"/>
              </a:rPr>
              <a:t>голосовых интерфейсов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1901952"/>
            <a:ext cx="3472586" cy="2331720"/>
          </a:xfrm>
          <a:prstGeom prst="roundRect">
            <a:avLst>
              <a:gd name="adj" fmla="val 11000"/>
            </a:avLst>
          </a:prstGeom>
          <a:solidFill>
            <a:srgbClr val="1C2447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2249424"/>
            <a:ext cx="292394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DFCF8"/>
                </a:solidFill>
                <a:latin typeface="Unbounded"/>
              </a:rPr>
              <a:t>$5,2 млрд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798064"/>
            <a:ext cx="292394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FDFCF8"/>
                </a:solidFill>
                <a:latin typeface="JetBrains Mono"/>
              </a:rPr>
              <a:t>TAM · ВЕСЬ РЫНОК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346704"/>
            <a:ext cx="292394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E5E1D4"/>
                </a:solidFill>
                <a:latin typeface="Rubik"/>
              </a:rPr>
              <a:t>Мировой рынок распознавания речи и ПО для диктовки.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59554" y="1901952"/>
            <a:ext cx="3472586" cy="2331720"/>
          </a:xfrm>
          <a:prstGeom prst="roundRect">
            <a:avLst>
              <a:gd name="adj" fmla="val 11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3874" y="2249424"/>
            <a:ext cx="292394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DFCF8"/>
                </a:solidFill>
                <a:latin typeface="Unbounded"/>
              </a:rPr>
              <a:t>$780 млн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33874" y="2798064"/>
            <a:ext cx="292394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FDFCF8"/>
                </a:solidFill>
                <a:latin typeface="JetBrains Mono"/>
              </a:rPr>
              <a:t>SAM · НАШ СЕГМЕНТ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33874" y="3346704"/>
            <a:ext cx="292394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FDFCF8"/>
                </a:solidFill>
                <a:latin typeface="Rubik"/>
              </a:rPr>
              <a:t>Пользователи macOS, чья работа — постоянно вводить текст.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33308" y="1901952"/>
            <a:ext cx="3472586" cy="2331720"/>
          </a:xfrm>
          <a:prstGeom prst="roundRect">
            <a:avLst>
              <a:gd name="adj" fmla="val 11000"/>
            </a:avLst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7628" y="2249424"/>
            <a:ext cx="292394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1C2447"/>
                </a:solidFill>
                <a:latin typeface="Unbounded"/>
              </a:rPr>
              <a:t>$12 млн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7628" y="2798064"/>
            <a:ext cx="292394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1C2447"/>
                </a:solidFill>
                <a:latin typeface="JetBrains Mono"/>
              </a:rPr>
              <a:t>SOM · ЦЕЛЬ ЗА 3 ГОДА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7628" y="3346704"/>
            <a:ext cx="292394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1C2447"/>
                </a:solidFill>
                <a:latin typeface="Rubik"/>
              </a:rPr>
              <a:t>Русскоязычный сегмент и малый бизнес — рынок, который мы можем занять.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4736592"/>
            <a:ext cx="2093971" cy="310896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≈ 20 % в год — рост рынка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880355" y="4736592"/>
            <a:ext cx="1951325" cy="310896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100+ млн — активных Mac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32264" y="4736592"/>
            <a:ext cx="2307940" cy="310896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250 млн — носителей русского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40788" y="4736592"/>
            <a:ext cx="1523387" cy="310896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0 ₸ — порог входа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5742432"/>
            <a:ext cx="108200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5A6180"/>
                </a:solidFill>
                <a:latin typeface="Rubik"/>
              </a:rPr>
              <a:t>Оценка построена на публичных данных о рынке ASR и голосового ПО; SOM — целевая доля русскоязычного направления за три года.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0624"/>
            <a:ext cx="1522476" cy="329184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FDFCF8"/>
                </a:solidFill>
                <a:latin typeface="JetBrains Mono"/>
              </a:rPr>
              <a:t>БИЗНЕС-МОДЕЛЬ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C2447"/>
                </a:solidFill>
                <a:latin typeface="Unbounded"/>
              </a:rPr>
              <a:t>Бесплатное ядро. </a:t>
            </a:r>
            <a:r>
              <a:rPr sz="3000" b="1" i="0">
                <a:solidFill>
                  <a:srgbClr val="1B4BA9"/>
                </a:solidFill>
                <a:latin typeface="Unbounded"/>
              </a:rPr>
              <a:t>Платная скорость.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1901952"/>
            <a:ext cx="3472586" cy="2468880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2267712"/>
            <a:ext cx="292394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350" b="1" i="0">
                <a:solidFill>
                  <a:srgbClr val="1C2447"/>
                </a:solidFill>
                <a:latin typeface="Unbounded"/>
              </a:rPr>
              <a:t>FREE · 0 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072384"/>
            <a:ext cx="292394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A6180"/>
                </a:solidFill>
                <a:latin typeface="Rubik"/>
              </a:rPr>
              <a:t>Всё ядро без ограничений: два движка, транскрипция файлов, история, 10 языков. Исходный код открыт.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59554" y="1901952"/>
            <a:ext cx="3472586" cy="2468880"/>
          </a:xfrm>
          <a:prstGeom prst="roundRect">
            <a:avLst>
              <a:gd name="adj" fmla="val 11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33874" y="2267712"/>
            <a:ext cx="292394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350" b="1" i="0">
                <a:solidFill>
                  <a:srgbClr val="FDFCF8"/>
                </a:solidFill>
                <a:latin typeface="Unbounded"/>
              </a:rPr>
              <a:t>PRO · 3 990 ₸/МЕС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33874" y="3072384"/>
            <a:ext cx="292394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FDFCF8"/>
                </a:solidFill>
                <a:latin typeface="Rubik"/>
              </a:rPr>
              <a:t>Приоритетные модели, безлимитный объём, пользовательский словарь, экспорт и ранний доступ к новым функциям.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33308" y="1901952"/>
            <a:ext cx="3472586" cy="2468880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07628" y="2267712"/>
            <a:ext cx="292394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350" b="1" i="0">
                <a:solidFill>
                  <a:srgbClr val="1C2447"/>
                </a:solidFill>
                <a:latin typeface="Unbounded"/>
              </a:rPr>
              <a:t>TEAM · ОТ 2 990 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7628" y="3072384"/>
            <a:ext cx="292394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A6180"/>
                </a:solidFill>
                <a:latin typeface="Rubik"/>
              </a:rPr>
              <a:t>За сотрудника в месяц: админ-панель, единый вход, общие словари и развёртывание внутри компании.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864608"/>
            <a:ext cx="1166772" cy="310896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Маржа &gt; 80 %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53156" y="4864608"/>
            <a:ext cx="3377785" cy="310896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Себестоимость распознавания — центы в месяц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31525" y="4864608"/>
            <a:ext cx="2450586" cy="310896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Привлечение через открытый код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82695" y="4864608"/>
            <a:ext cx="1523387" cy="310896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Цель LTV/CAC &gt; 3×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797296"/>
            <a:ext cx="108200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5A6180"/>
                </a:solidFill>
                <a:latin typeface="Rubik"/>
              </a:rPr>
              <a:t>Монетизация — план на 2026 год. Бесплатное ядро и открытый исходный код остаются основой продукта: они и есть канал привлечения.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0624"/>
            <a:ext cx="2002536" cy="329184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FDFCF8"/>
                </a:solidFill>
                <a:latin typeface="JetBrains Mono"/>
              </a:rPr>
              <a:t>КОНКУРЕНТНАЯ СРЕДА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C2447"/>
                </a:solidFill>
                <a:latin typeface="Unbounded"/>
              </a:rPr>
              <a:t>Бесплатно — и с </a:t>
            </a:r>
            <a:r>
              <a:rPr sz="3000" b="1" i="0">
                <a:solidFill>
                  <a:srgbClr val="1B4BA9"/>
                </a:solidFill>
                <a:latin typeface="Unbounded"/>
              </a:rPr>
              <a:t>открытым кодом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1975104"/>
            <a:ext cx="3246028" cy="548640"/>
          </a:xfrm>
          <a:prstGeom prst="rect">
            <a:avLst/>
          </a:prstGeom>
          <a:solidFill>
            <a:srgbClr val="1C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950" b="1">
                <a:solidFill>
                  <a:srgbClr val="FDFCF8"/>
                </a:solidFill>
                <a:latin typeface="Unbounded"/>
              </a:rPr>
              <a:t>ПРОДУКТ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828" y="1975104"/>
            <a:ext cx="2055818" cy="548640"/>
          </a:xfrm>
          <a:prstGeom prst="rect">
            <a:avLst/>
          </a:prstGeom>
          <a:solidFill>
            <a:srgbClr val="1C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950" b="1">
                <a:solidFill>
                  <a:srgbClr val="FDFCF8"/>
                </a:solidFill>
                <a:latin typeface="Unbounded"/>
              </a:rPr>
              <a:t>ЦЕНА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87646" y="1975104"/>
            <a:ext cx="1947617" cy="548640"/>
          </a:xfrm>
          <a:prstGeom prst="rect">
            <a:avLst/>
          </a:prstGeom>
          <a:solidFill>
            <a:srgbClr val="1C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950" b="1">
                <a:solidFill>
                  <a:srgbClr val="FDFCF8"/>
                </a:solidFill>
                <a:latin typeface="Unbounded"/>
              </a:rPr>
              <a:t>СИСТЕМНЫЙ ЗВУК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35263" y="1975104"/>
            <a:ext cx="1623014" cy="548640"/>
          </a:xfrm>
          <a:prstGeom prst="rect">
            <a:avLst/>
          </a:prstGeom>
          <a:solidFill>
            <a:srgbClr val="1C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950" b="1">
                <a:solidFill>
                  <a:srgbClr val="FDFCF8"/>
                </a:solidFill>
                <a:latin typeface="Unbounded"/>
              </a:rPr>
              <a:t>ФАЙЛЫ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58277" y="1975104"/>
            <a:ext cx="1947618" cy="548640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950" b="1">
                <a:solidFill>
                  <a:srgbClr val="FDFCF8"/>
                </a:solidFill>
                <a:latin typeface="Unbounded"/>
              </a:rPr>
              <a:t>ОТКРЫТЫЙ КОД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2523744"/>
            <a:ext cx="3246028" cy="676656"/>
          </a:xfrm>
          <a:prstGeom prst="rect">
            <a:avLst/>
          </a:prstGeom>
          <a:solidFill>
            <a:srgbClr val="DDE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100" b="1">
                <a:solidFill>
                  <a:srgbClr val="1C2447"/>
                </a:solidFill>
                <a:latin typeface="Rubik"/>
              </a:rPr>
              <a:t>WhisperFly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828" y="2523744"/>
            <a:ext cx="2055818" cy="676656"/>
          </a:xfrm>
          <a:prstGeom prst="rect">
            <a:avLst/>
          </a:prstGeom>
          <a:solidFill>
            <a:srgbClr val="DDE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100" b="1">
                <a:solidFill>
                  <a:srgbClr val="1C2447"/>
                </a:solidFill>
                <a:latin typeface="Rubik"/>
              </a:rPr>
              <a:t>0 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87646" y="2523744"/>
            <a:ext cx="1947617" cy="676656"/>
          </a:xfrm>
          <a:prstGeom prst="rect">
            <a:avLst/>
          </a:prstGeom>
          <a:solidFill>
            <a:srgbClr val="DDE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35263" y="2523744"/>
            <a:ext cx="1623014" cy="676656"/>
          </a:xfrm>
          <a:prstGeom prst="rect">
            <a:avLst/>
          </a:prstGeom>
          <a:solidFill>
            <a:srgbClr val="DDE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58277" y="2523744"/>
            <a:ext cx="1947618" cy="676656"/>
          </a:xfrm>
          <a:prstGeom prst="rect">
            <a:avLst/>
          </a:prstGeom>
          <a:solidFill>
            <a:srgbClr val="DDE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200400"/>
            <a:ext cx="3246028" cy="676656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100" b="0">
                <a:solidFill>
                  <a:srgbClr val="1C2447"/>
                </a:solidFill>
                <a:latin typeface="Rubik"/>
              </a:rPr>
              <a:t>Superwhisper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31828" y="3200400"/>
            <a:ext cx="2055818" cy="676656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100" b="0">
                <a:solidFill>
                  <a:srgbClr val="1C2447"/>
                </a:solidFill>
                <a:latin typeface="Rubik"/>
              </a:rPr>
              <a:t>от $8,99/мес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87646" y="3200400"/>
            <a:ext cx="1947617" cy="676656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35263" y="3200400"/>
            <a:ext cx="1623014" cy="676656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58277" y="3200400"/>
            <a:ext cx="1947618" cy="676656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3877056"/>
            <a:ext cx="3246028" cy="676656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100" b="0">
                <a:solidFill>
                  <a:srgbClr val="1C2447"/>
                </a:solidFill>
                <a:latin typeface="Rubik"/>
              </a:rPr>
              <a:t>MacWhisper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31828" y="3877056"/>
            <a:ext cx="2055818" cy="676656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100" b="0">
                <a:solidFill>
                  <a:srgbClr val="1C2447"/>
                </a:solidFill>
                <a:latin typeface="Rubik"/>
              </a:rPr>
              <a:t>от €59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87646" y="3877056"/>
            <a:ext cx="1947617" cy="676656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35263" y="3877056"/>
            <a:ext cx="1623014" cy="676656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58277" y="3877056"/>
            <a:ext cx="1947618" cy="676656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4553712"/>
            <a:ext cx="3246028" cy="676656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100" b="0">
                <a:solidFill>
                  <a:srgbClr val="1C2447"/>
                </a:solidFill>
                <a:latin typeface="Rubik"/>
              </a:rPr>
              <a:t>Wispr Flow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931828" y="4553712"/>
            <a:ext cx="2055818" cy="676656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100" b="0">
                <a:solidFill>
                  <a:srgbClr val="1C2447"/>
                </a:solidFill>
                <a:latin typeface="Rubik"/>
              </a:rPr>
              <a:t>от $12/мес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87646" y="4553712"/>
            <a:ext cx="1947617" cy="676656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35263" y="4553712"/>
            <a:ext cx="1623014" cy="676656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558277" y="4553712"/>
            <a:ext cx="1947618" cy="676656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" y="5230368"/>
            <a:ext cx="3246028" cy="676656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100" b="0">
                <a:solidFill>
                  <a:srgbClr val="1C2447"/>
                </a:solidFill>
                <a:latin typeface="Rubik"/>
              </a:rPr>
              <a:t>Apple «Диктовка»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31828" y="5230368"/>
            <a:ext cx="2055818" cy="676656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100" b="0">
                <a:solidFill>
                  <a:srgbClr val="1C2447"/>
                </a:solidFill>
                <a:latin typeface="Rubik"/>
              </a:rPr>
              <a:t>0 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87646" y="5230368"/>
            <a:ext cx="1947617" cy="676656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35263" y="5230368"/>
            <a:ext cx="1623014" cy="676656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558277" y="5230368"/>
            <a:ext cx="1947618" cy="676656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5800" y="1975104"/>
            <a:ext cx="10820095" cy="3931920"/>
          </a:xfrm>
          <a:prstGeom prst="rect">
            <a:avLst/>
          </a:prstGeom>
          <a:noFill/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" y="5852160"/>
            <a:ext cx="108200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5A6180"/>
                </a:solidFill>
                <a:latin typeface="Rubik"/>
              </a:rPr>
              <a:t>Публичные тарифы и возможности продуктов на начало 2026 года. WhisperFly сочетает то, что конкуренты предлагают только по отдельности: нулевую цену, системный звук и открытый исходный код.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0624"/>
            <a:ext cx="850392" cy="329184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FDFCF8"/>
                </a:solidFill>
                <a:latin typeface="JetBrains Mono"/>
              </a:rPr>
              <a:t>ТРЕКШН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C2447"/>
                </a:solidFill>
                <a:latin typeface="Unbounded"/>
              </a:rPr>
              <a:t>Готовый продукт, </a:t>
            </a:r>
            <a:r>
              <a:rPr sz="3000" b="1" i="0">
                <a:solidFill>
                  <a:srgbClr val="1B4BA9"/>
                </a:solidFill>
                <a:latin typeface="Unbounded"/>
              </a:rPr>
              <a:t>не прототип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1856232"/>
            <a:ext cx="2554147" cy="1572768"/>
          </a:xfrm>
          <a:prstGeom prst="roundRect">
            <a:avLst>
              <a:gd name="adj" fmla="val 11000"/>
            </a:avLst>
          </a:prstGeom>
          <a:solidFill>
            <a:srgbClr val="1C2447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2167128"/>
            <a:ext cx="20786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FDFCF8"/>
                </a:solidFill>
                <a:latin typeface="Unbounded"/>
              </a:rPr>
              <a:t>2.0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" y="2715768"/>
            <a:ext cx="20786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FDFCF8"/>
                </a:solidFill>
                <a:latin typeface="JetBrains Mono"/>
              </a:rPr>
              <a:t>ТЕКУЩАЯ ВЕРСИЯ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41115" y="1856232"/>
            <a:ext cx="2554147" cy="1572768"/>
          </a:xfrm>
          <a:prstGeom prst="roundRect">
            <a:avLst>
              <a:gd name="adj" fmla="val 11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8859" y="2167128"/>
            <a:ext cx="20786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FDFCF8"/>
                </a:solidFill>
                <a:latin typeface="Unbounde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8859" y="2715768"/>
            <a:ext cx="20786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FDFCF8"/>
                </a:solidFill>
                <a:latin typeface="JetBrains Mono"/>
              </a:rPr>
              <a:t>СБОРКИ: APPLE SILICON, INTEL, УНИВЕРСАЛЬНАЯ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6430" y="1856232"/>
            <a:ext cx="2554147" cy="1572768"/>
          </a:xfrm>
          <a:prstGeom prst="roundRect">
            <a:avLst>
              <a:gd name="adj" fmla="val 11000"/>
            </a:avLst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4174" y="2167128"/>
            <a:ext cx="20786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C2447"/>
                </a:solidFill>
                <a:latin typeface="Unbounded"/>
              </a:rPr>
              <a:t>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34174" y="2715768"/>
            <a:ext cx="20786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1C2447"/>
                </a:solidFill>
                <a:latin typeface="JetBrains Mono"/>
              </a:rPr>
              <a:t>ЯЗЫКОВ ИНТЕРФЕЙСА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51745" y="1856232"/>
            <a:ext cx="2554147" cy="1572768"/>
          </a:xfrm>
          <a:prstGeom prst="roundRect">
            <a:avLst>
              <a:gd name="adj" fmla="val 11000"/>
            </a:avLst>
          </a:prstGeom>
          <a:solidFill>
            <a:srgbClr val="1C2447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9489" y="2167128"/>
            <a:ext cx="20786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FDFCF8"/>
                </a:solidFill>
                <a:latin typeface="Unbounded"/>
              </a:rPr>
              <a:t>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489" y="2715768"/>
            <a:ext cx="20786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FDFCF8"/>
                </a:solidFill>
                <a:latin typeface="JetBrains Mono"/>
              </a:rPr>
              <a:t>КОММИТА В ОСНОВНОЙ ВЕТКЕ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3657600"/>
            <a:ext cx="10820095" cy="2103120"/>
          </a:xfrm>
          <a:prstGeom prst="roundRect">
            <a:avLst>
              <a:gd name="adj" fmla="val 11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78408" y="4050792"/>
            <a:ext cx="201168" cy="201168"/>
          </a:xfrm>
          <a:prstGeom prst="ellipse">
            <a:avLst/>
          </a:prstGeom>
          <a:noFill/>
          <a:ln w="28575">
            <a:solidFill>
              <a:srgbClr val="1B4B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25880" y="4023360"/>
            <a:ext cx="455965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00" b="1" i="0">
                <a:solidFill>
                  <a:srgbClr val="1C2447"/>
                </a:solidFill>
                <a:latin typeface="Rubik"/>
              </a:rPr>
              <a:t>Установка одной командой </a:t>
            </a:r>
            <a:r>
              <a:rPr sz="1000" b="0" i="0">
                <a:solidFill>
                  <a:srgbClr val="5A6180"/>
                </a:solidFill>
                <a:latin typeface="Rubik"/>
              </a:rPr>
              <a:t>через Homebrew или готовый DMG.</a:t>
            </a:r>
          </a:p>
        </p:txBody>
      </p:sp>
      <p:sp>
        <p:nvSpPr>
          <p:cNvPr id="33" name="Oval 32"/>
          <p:cNvSpPr/>
          <p:nvPr/>
        </p:nvSpPr>
        <p:spPr>
          <a:xfrm>
            <a:off x="6342735" y="4050792"/>
            <a:ext cx="201168" cy="201168"/>
          </a:xfrm>
          <a:prstGeom prst="ellipse">
            <a:avLst/>
          </a:prstGeom>
          <a:noFill/>
          <a:ln w="28575">
            <a:solidFill>
              <a:srgbClr val="1B4B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90207" y="4023360"/>
            <a:ext cx="455965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00" b="1" i="0">
                <a:solidFill>
                  <a:srgbClr val="1C2447"/>
                </a:solidFill>
                <a:latin typeface="Rubik"/>
              </a:rPr>
              <a:t>Совместимость </a:t>
            </a:r>
            <a:r>
              <a:rPr sz="1000" b="0" i="0">
                <a:solidFill>
                  <a:srgbClr val="5A6180"/>
                </a:solidFill>
                <a:latin typeface="Rubik"/>
              </a:rPr>
              <a:t>с macOS 14 (Sonoma) вплоть до macOS 26 (Tahoe).</a:t>
            </a:r>
          </a:p>
        </p:txBody>
      </p:sp>
      <p:sp>
        <p:nvSpPr>
          <p:cNvPr id="35" name="Oval 34"/>
          <p:cNvSpPr/>
          <p:nvPr/>
        </p:nvSpPr>
        <p:spPr>
          <a:xfrm>
            <a:off x="978408" y="4892040"/>
            <a:ext cx="201168" cy="201168"/>
          </a:xfrm>
          <a:prstGeom prst="ellipse">
            <a:avLst/>
          </a:prstGeom>
          <a:noFill/>
          <a:ln w="28575">
            <a:solidFill>
              <a:srgbClr val="1B4B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325880" y="4864608"/>
            <a:ext cx="455965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00" b="1" i="0">
                <a:solidFill>
                  <a:srgbClr val="1C2447"/>
                </a:solidFill>
                <a:latin typeface="Rubik"/>
              </a:rPr>
              <a:t>Три проблемы macOS 26 решены: </a:t>
            </a:r>
            <a:r>
              <a:rPr sz="1000" b="0" i="0">
                <a:solidFill>
                  <a:srgbClr val="5A6180"/>
                </a:solidFill>
                <a:latin typeface="Rubik"/>
              </a:rPr>
              <a:t>крэш панели, ложные отказы прав, тихая запись.</a:t>
            </a:r>
          </a:p>
        </p:txBody>
      </p:sp>
      <p:sp>
        <p:nvSpPr>
          <p:cNvPr id="37" name="Oval 36"/>
          <p:cNvSpPr/>
          <p:nvPr/>
        </p:nvSpPr>
        <p:spPr>
          <a:xfrm>
            <a:off x="6342735" y="4892040"/>
            <a:ext cx="201168" cy="201168"/>
          </a:xfrm>
          <a:prstGeom prst="ellipse">
            <a:avLst/>
          </a:prstGeom>
          <a:noFill/>
          <a:ln w="28575">
            <a:solidFill>
              <a:srgbClr val="1B4B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90207" y="4864608"/>
            <a:ext cx="455965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00" b="1" i="0">
                <a:solidFill>
                  <a:srgbClr val="1C2447"/>
                </a:solidFill>
                <a:latin typeface="Rubik"/>
              </a:rPr>
              <a:t>Открытый исходный код </a:t>
            </a:r>
            <a:r>
              <a:rPr sz="1000" b="0" i="0">
                <a:solidFill>
                  <a:srgbClr val="5A6180"/>
                </a:solidFill>
                <a:latin typeface="Rubik"/>
              </a:rPr>
              <a:t>на GitHub — продукт можно проверить и собрать самому.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0624"/>
            <a:ext cx="946404" cy="329184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FDFCF8"/>
                </a:solidFill>
                <a:latin typeface="JetBrains Mono"/>
              </a:rPr>
              <a:t>РОАДМАП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C2447"/>
                </a:solidFill>
                <a:latin typeface="Unbounded"/>
              </a:rPr>
              <a:t>От приложения к </a:t>
            </a:r>
            <a:r>
              <a:rPr sz="3000" b="1" i="0">
                <a:solidFill>
                  <a:srgbClr val="1B4BA9"/>
                </a:solidFill>
                <a:latin typeface="Unbounded"/>
              </a:rPr>
              <a:t>платформе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1993392"/>
            <a:ext cx="2554147" cy="256032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432304"/>
            <a:ext cx="25541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1C2447"/>
                </a:solidFill>
                <a:latin typeface="Unbounded"/>
              </a:rPr>
              <a:t>Q1 2026 · сейчас</a:t>
            </a:r>
          </a:p>
        </p:txBody>
      </p:sp>
      <p:sp>
        <p:nvSpPr>
          <p:cNvPr id="20" name="Oval 19"/>
          <p:cNvSpPr/>
          <p:nvPr/>
        </p:nvSpPr>
        <p:spPr>
          <a:xfrm>
            <a:off x="704088" y="301752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295351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Релиз 2.0: системный звук и файлы</a:t>
            </a:r>
          </a:p>
        </p:txBody>
      </p:sp>
      <p:sp>
        <p:nvSpPr>
          <p:cNvPr id="22" name="Oval 21"/>
          <p:cNvSpPr/>
          <p:nvPr/>
        </p:nvSpPr>
        <p:spPr>
          <a:xfrm>
            <a:off x="704088" y="374904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68503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История транскрипций</a:t>
            </a:r>
          </a:p>
        </p:txBody>
      </p:sp>
      <p:sp>
        <p:nvSpPr>
          <p:cNvPr id="24" name="Oval 23"/>
          <p:cNvSpPr/>
          <p:nvPr/>
        </p:nvSpPr>
        <p:spPr>
          <a:xfrm>
            <a:off x="704088" y="448056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441655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Совместимость с macOS 26</a:t>
            </a:r>
          </a:p>
        </p:txBody>
      </p:sp>
      <p:sp>
        <p:nvSpPr>
          <p:cNvPr id="26" name="Oval 25"/>
          <p:cNvSpPr/>
          <p:nvPr/>
        </p:nvSpPr>
        <p:spPr>
          <a:xfrm>
            <a:off x="704088" y="521208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14807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Сборки и Homebrew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41115" y="1993392"/>
            <a:ext cx="2554147" cy="256032"/>
          </a:xfrm>
          <a:prstGeom prst="roundRect">
            <a:avLst>
              <a:gd name="adj" fmla="val 50000"/>
            </a:avLst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41115" y="2432304"/>
            <a:ext cx="25541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1C2447"/>
                </a:solidFill>
                <a:latin typeface="Unbounded"/>
              </a:rPr>
              <a:t>Q2 2026</a:t>
            </a:r>
          </a:p>
        </p:txBody>
      </p:sp>
      <p:sp>
        <p:nvSpPr>
          <p:cNvPr id="30" name="Oval 29"/>
          <p:cNvSpPr/>
          <p:nvPr/>
        </p:nvSpPr>
        <p:spPr>
          <a:xfrm>
            <a:off x="3459403" y="301752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15435" y="295351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WhisperFly Pro и подписка</a:t>
            </a:r>
          </a:p>
        </p:txBody>
      </p:sp>
      <p:sp>
        <p:nvSpPr>
          <p:cNvPr id="32" name="Oval 31"/>
          <p:cNvSpPr/>
          <p:nvPr/>
        </p:nvSpPr>
        <p:spPr>
          <a:xfrm>
            <a:off x="3459403" y="374904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15435" y="368503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Пользовательский словарь</a:t>
            </a:r>
          </a:p>
        </p:txBody>
      </p:sp>
      <p:sp>
        <p:nvSpPr>
          <p:cNvPr id="34" name="Oval 33"/>
          <p:cNvSpPr/>
          <p:nvPr/>
        </p:nvSpPr>
        <p:spPr>
          <a:xfrm>
            <a:off x="3459403" y="448056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15435" y="441655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Оплата и лицензирование</a:t>
            </a:r>
          </a:p>
        </p:txBody>
      </p:sp>
      <p:sp>
        <p:nvSpPr>
          <p:cNvPr id="36" name="Oval 35"/>
          <p:cNvSpPr/>
          <p:nvPr/>
        </p:nvSpPr>
        <p:spPr>
          <a:xfrm>
            <a:off x="3459403" y="521208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15435" y="514807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Усиление команды: GTM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96430" y="1993392"/>
            <a:ext cx="2554147" cy="256032"/>
          </a:xfrm>
          <a:prstGeom prst="roundRect">
            <a:avLst>
              <a:gd name="adj" fmla="val 50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96430" y="2432304"/>
            <a:ext cx="25541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1C2447"/>
                </a:solidFill>
                <a:latin typeface="Unbounded"/>
              </a:rPr>
              <a:t>Q3 2026</a:t>
            </a:r>
          </a:p>
        </p:txBody>
      </p:sp>
      <p:sp>
        <p:nvSpPr>
          <p:cNvPr id="40" name="Oval 39"/>
          <p:cNvSpPr/>
          <p:nvPr/>
        </p:nvSpPr>
        <p:spPr>
          <a:xfrm>
            <a:off x="6214718" y="301752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70750" y="295351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Потоковая транскрипция</a:t>
            </a:r>
          </a:p>
        </p:txBody>
      </p:sp>
      <p:sp>
        <p:nvSpPr>
          <p:cNvPr id="42" name="Oval 41"/>
          <p:cNvSpPr/>
          <p:nvPr/>
        </p:nvSpPr>
        <p:spPr>
          <a:xfrm>
            <a:off x="6214718" y="374904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70750" y="368503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Компаньон для iOS</a:t>
            </a:r>
          </a:p>
        </p:txBody>
      </p:sp>
      <p:sp>
        <p:nvSpPr>
          <p:cNvPr id="44" name="Oval 43"/>
          <p:cNvSpPr/>
          <p:nvPr/>
        </p:nvSpPr>
        <p:spPr>
          <a:xfrm>
            <a:off x="6214718" y="448056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70750" y="441655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Версия для Windows</a:t>
            </a:r>
          </a:p>
        </p:txBody>
      </p:sp>
      <p:sp>
        <p:nvSpPr>
          <p:cNvPr id="46" name="Oval 45"/>
          <p:cNvSpPr/>
          <p:nvPr/>
        </p:nvSpPr>
        <p:spPr>
          <a:xfrm>
            <a:off x="6214718" y="521208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70750" y="514807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Публичный API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51745" y="1993392"/>
            <a:ext cx="2554147" cy="256032"/>
          </a:xfrm>
          <a:prstGeom prst="roundRect">
            <a:avLst>
              <a:gd name="adj" fmla="val 50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51745" y="2432304"/>
            <a:ext cx="25541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1C2447"/>
                </a:solidFill>
                <a:latin typeface="Unbounded"/>
              </a:rPr>
              <a:t>Q4 2026</a:t>
            </a:r>
          </a:p>
        </p:txBody>
      </p:sp>
      <p:sp>
        <p:nvSpPr>
          <p:cNvPr id="50" name="Oval 49"/>
          <p:cNvSpPr/>
          <p:nvPr/>
        </p:nvSpPr>
        <p:spPr>
          <a:xfrm>
            <a:off x="8970033" y="301752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226065" y="295351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Админ-панель и единый вход</a:t>
            </a:r>
          </a:p>
        </p:txBody>
      </p:sp>
      <p:sp>
        <p:nvSpPr>
          <p:cNvPr id="52" name="Oval 51"/>
          <p:cNvSpPr/>
          <p:nvPr/>
        </p:nvSpPr>
        <p:spPr>
          <a:xfrm>
            <a:off x="8970033" y="374904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26065" y="368503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Общие словари компании</a:t>
            </a:r>
          </a:p>
        </p:txBody>
      </p:sp>
      <p:sp>
        <p:nvSpPr>
          <p:cNvPr id="54" name="Oval 53"/>
          <p:cNvSpPr/>
          <p:nvPr/>
        </p:nvSpPr>
        <p:spPr>
          <a:xfrm>
            <a:off x="8970033" y="448056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226065" y="441655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Развёртывание on-prem</a:t>
            </a:r>
          </a:p>
        </p:txBody>
      </p:sp>
      <p:sp>
        <p:nvSpPr>
          <p:cNvPr id="56" name="Oval 55"/>
          <p:cNvSpPr/>
          <p:nvPr/>
        </p:nvSpPr>
        <p:spPr>
          <a:xfrm>
            <a:off x="8970033" y="521208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226065" y="514807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Сертификация безопасности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0624"/>
            <a:ext cx="946404" cy="329184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FDFCF8"/>
                </a:solidFill>
                <a:latin typeface="JetBrains Mono"/>
              </a:rPr>
              <a:t>КОМАНДА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C2447"/>
                </a:solidFill>
                <a:latin typeface="Unbounded"/>
              </a:rPr>
              <a:t>Один разработчик. </a:t>
            </a:r>
            <a:r>
              <a:rPr sz="3000" b="1" i="0">
                <a:solidFill>
                  <a:srgbClr val="1B4BA9"/>
                </a:solidFill>
                <a:latin typeface="Unbounded"/>
              </a:rPr>
              <a:t>Весь стек.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1947672"/>
            <a:ext cx="3472586" cy="3246120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896313" y="2331720"/>
            <a:ext cx="1051560" cy="1051560"/>
          </a:xfrm>
          <a:prstGeom prst="ellipse">
            <a:avLst/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DFCF8"/>
                </a:solidFill>
                <a:latin typeface="Unbounded"/>
              </a:rPr>
              <a:t>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593592"/>
            <a:ext cx="347258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C2447"/>
                </a:solidFill>
                <a:latin typeface="Unbounded"/>
              </a:rPr>
              <a:t>dandysuper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032503"/>
            <a:ext cx="310682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5A6180"/>
                </a:solidFill>
                <a:latin typeface="JetBrains Mono"/>
              </a:rPr>
              <a:t>ОСНОВАТЕЛЬ · РАЗРАБОТКА · ПРОДУКТ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" y="4489704"/>
            <a:ext cx="296052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Полный цикл: архитектура на Swift, интерфейс, дизайн, релизы и дистрибуция.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59554" y="1947672"/>
            <a:ext cx="3472586" cy="3246120"/>
          </a:xfrm>
          <a:prstGeom prst="roundRect">
            <a:avLst>
              <a:gd name="adj" fmla="val 11000"/>
            </a:avLst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70067" y="2331720"/>
            <a:ext cx="1051560" cy="1051560"/>
          </a:xfrm>
          <a:prstGeom prst="ellipse">
            <a:avLst/>
          </a:prstGeom>
          <a:solidFill>
            <a:srgbClr val="1C2447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A9E56"/>
                </a:solidFill>
                <a:latin typeface="Unbounded"/>
              </a:rPr>
              <a:t>&lt;&gt;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59554" y="3593592"/>
            <a:ext cx="347258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C2447"/>
                </a:solidFill>
                <a:latin typeface="Unbounded"/>
              </a:rPr>
              <a:t>Открытый код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42434" y="4032503"/>
            <a:ext cx="310682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JetBrains Mono"/>
              </a:rPr>
              <a:t>СООБЩЕСТВО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5586" y="4489704"/>
            <a:ext cx="296052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1000" b="0" i="0">
                <a:solidFill>
                  <a:srgbClr val="1C2447"/>
                </a:solidFill>
                <a:latin typeface="Rubik"/>
              </a:rPr>
              <a:t>Репозиторий на GitHub: код открыт, вклад и обратная связь приветствуются.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33308" y="1947672"/>
            <a:ext cx="3472586" cy="3246120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243821" y="2331720"/>
            <a:ext cx="1051560" cy="1051560"/>
          </a:xfrm>
          <a:prstGeom prst="ellipse">
            <a:avLst/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DFCF8"/>
                </a:solidFill>
                <a:latin typeface="Unbounded"/>
              </a:rPr>
              <a:t>HK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33308" y="3593592"/>
            <a:ext cx="347258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C2447"/>
                </a:solidFill>
                <a:latin typeface="Unbounded"/>
              </a:rPr>
              <a:t>hukopo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6188" y="4032503"/>
            <a:ext cx="310682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5A6180"/>
                </a:solidFill>
                <a:latin typeface="JetBrains Mono"/>
              </a:rPr>
              <a:t>АВТОР ОСНОВЫ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89340" y="4489704"/>
            <a:ext cx="296052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Автор проекта qwenwishper, из которого вырос WhisperFly.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5870448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5A6180"/>
                </a:solidFill>
                <a:latin typeface="Rubik"/>
              </a:rPr>
              <a:t>В планах — усиление команды: продуктовый маркетинг и продажи во втором квартале 2026 года.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0624"/>
            <a:ext cx="1330452" cy="329184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FDFCF8"/>
                </a:solidFill>
                <a:latin typeface="JetBrains Mono"/>
              </a:rPr>
              <a:t>ЧТО МЫ ИЩЕМ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C2447"/>
                </a:solidFill>
                <a:latin typeface="Unbounded"/>
              </a:rPr>
              <a:t>Помогите нам </a:t>
            </a:r>
            <a:r>
              <a:rPr sz="3000" b="1" i="0">
                <a:solidFill>
                  <a:srgbClr val="1B4BA9"/>
                </a:solidFill>
                <a:latin typeface="Unbounded"/>
              </a:rPr>
              <a:t>взлететь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1947672"/>
            <a:ext cx="3472586" cy="2148840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2313432"/>
            <a:ext cx="292394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1" i="0">
                <a:solidFill>
                  <a:srgbClr val="1C2447"/>
                </a:solidFill>
                <a:latin typeface="Unbounded"/>
              </a:rPr>
              <a:t>ИНВЕСТИЦИИ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026664"/>
            <a:ext cx="292394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A6180"/>
                </a:solidFill>
                <a:latin typeface="Rubik"/>
              </a:rPr>
              <a:t>Посевной раунд для запуска Pro-версии и найма специалиста по выходу на рынок.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59554" y="1947672"/>
            <a:ext cx="3472586" cy="2148840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33874" y="2313432"/>
            <a:ext cx="292394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1" i="0">
                <a:solidFill>
                  <a:srgbClr val="1C2447"/>
                </a:solidFill>
                <a:latin typeface="Unbounded"/>
              </a:rPr>
              <a:t>МЕНТОРЫ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33874" y="3026664"/>
            <a:ext cx="292394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A6180"/>
                </a:solidFill>
                <a:latin typeface="Rubik"/>
              </a:rPr>
              <a:t>Опыт вывода инструментов для продуктивности на массовый рынок и в B2B.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33308" y="1947672"/>
            <a:ext cx="3472586" cy="2148840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07628" y="2313432"/>
            <a:ext cx="292394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1" i="0">
                <a:solidFill>
                  <a:srgbClr val="1C2447"/>
                </a:solidFill>
                <a:latin typeface="Unbounded"/>
              </a:rPr>
              <a:t>ПАРТНЁРЫ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7628" y="3026664"/>
            <a:ext cx="292394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A6180"/>
                </a:solidFill>
                <a:latin typeface="Rubik"/>
              </a:rPr>
              <a:t>Дистрибуция через сообщества разработчиков, IT-компании и вузы.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462272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DFCF8"/>
                </a:solidFill>
                <a:latin typeface="Unbounded"/>
              </a:rPr>
              <a:t>↓  Скачать бесплатно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38628" y="4462272"/>
            <a:ext cx="1796796" cy="566928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C2447"/>
                </a:solidFill>
                <a:latin typeface="Unbounded"/>
              </a:rPr>
              <a:t>&lt;/&gt;  GitHub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21208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5A6180"/>
                </a:solidFill>
                <a:latin typeface="JetBrains Mono"/>
              </a:rPr>
              <a:t>ОТКРЫТЫЙ ИСХОДНЫЙ КОД · MACOS 14+ · 10 ЯЗЫКОВ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